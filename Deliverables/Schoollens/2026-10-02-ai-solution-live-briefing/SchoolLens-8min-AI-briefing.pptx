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3" d="100"/>
          <a:sy n="73" d="100"/>
        </p:scale>
        <p:origin x="34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3A10-EB26-4D9F-A578-68F13A3C52AD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DECC0-E331-4A46-9926-050F4EEFD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1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0:00-0:20</a:t>
            </a:r>
          </a:p>
          <a:p>
            <a:r>
              <a:rPr lang="en-US"/>
              <a:t>Good afternoon. I will not repeat the deck you already have. This briefing is a real parent, then the product running.</a:t>
            </a:r>
          </a:p>
          <a:p>
            <a:endParaRPr lang="en-US"/>
          </a:p>
          <a:p>
            <a:r>
              <a:rPr lang="en-US"/>
              <a:t>A parent asked: Yangon American or KINGS, and what are the fees? Facebook answered with 84 percent recommended versus not yet 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ECC0-E331-4A46-9926-050F4EEFDB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52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0:20-1:20</a:t>
            </a:r>
          </a:p>
          <a:p>
            <a:r>
              <a:rPr lang="en-US"/>
              <a:t>I want to start where every Yangon parent already is. Not a slide about AI. A Facebook group.</a:t>
            </a:r>
          </a:p>
          <a:p>
            <a:endParaRPr lang="en-US"/>
          </a:p>
          <a:p>
            <a:r>
              <a:rPr lang="en-US"/>
              <a:t>Hours ago, in International School Review Myanmar, a parent asked: Yangon American or KINGS. They compared fees in the comments. Facebook put 84 percent recommended next to not yet rated.</a:t>
            </a:r>
          </a:p>
          <a:p>
            <a:endParaRPr lang="en-US"/>
          </a:p>
          <a:p>
            <a:r>
              <a:rPr lang="en-US"/>
              <a:t>That score is not a fee table. It is not a source. It cannot tell you whether Nursery is 19.25 million kyat.</a:t>
            </a:r>
          </a:p>
          <a:p>
            <a:endParaRPr lang="en-US"/>
          </a:p>
          <a:p>
            <a:r>
              <a:rPr lang="en-US"/>
              <a:t>This parent asked for help. The group will send opinions. None of that comes with a poster you can open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ECC0-E331-4A46-9926-050F4EEFDB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31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1:20-2:10</a:t>
            </a:r>
          </a:p>
          <a:p>
            <a:r>
              <a:rPr lang="en-US"/>
              <a:t>What does this parent actually need? Not 84 percent. They need the fee poster. Deposit. Early-bird. Nursery. Year 10.</a:t>
            </a:r>
          </a:p>
          <a:p>
            <a:endParaRPr lang="en-US"/>
          </a:p>
          <a:p>
            <a:r>
              <a:rPr lang="en-US"/>
              <a:t>Facebook cannot do that. A chatbot will invent a fluent fee and sound sure.</a:t>
            </a:r>
          </a:p>
          <a:p>
            <a:endParaRPr lang="en-US"/>
          </a:p>
          <a:p>
            <a:r>
              <a:rPr lang="en-US"/>
              <a:t>SchoolLens does three jobs. Collect the poster. Extract and label it likely - one source. Ask only from retrieved evidence. If Yangon American is not on file, we say so. We do not invent a recommendation score.</a:t>
            </a:r>
          </a:p>
          <a:p>
            <a:endParaRPr lang="en-US"/>
          </a:p>
          <a:p>
            <a:r>
              <a:rPr lang="en-US"/>
              <a:t>Click the next slide. Silent recording of the live app. No music.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ECC0-E331-4A46-9926-050F4EEFDB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25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2:10-7:20  TALK OVER THE VIDEO. Click the picture once to play. Spacebar pauses in presenter view.</a:t>
            </a:r>
          </a:p>
          <a:p>
            <a:endParaRPr lang="en-US"/>
          </a:p>
          <a:p>
            <a:r>
              <a:rPr lang="en-US"/>
              <a:t>OPEN: Real Facebook post. Yangon American or KINGS. 84 percent versus not yet rated.</a:t>
            </a:r>
          </a:p>
          <a:p>
            <a:endParaRPr lang="en-US"/>
          </a:p>
          <a:p>
            <a:r>
              <a:rPr lang="en-US"/>
              <a:t>HOME: The AI does not pick a school.</a:t>
            </a:r>
          </a:p>
          <a:p>
            <a:endParaRPr lang="en-US"/>
          </a:p>
          <a:p>
            <a:r>
              <a:rPr lang="en-US"/>
              <a:t>YANGON AMERICAN: Zero rows. Honest empty. We do not invent an 84 percent score.</a:t>
            </a:r>
          </a:p>
          <a:p>
            <a:endParaRPr lang="en-US"/>
          </a:p>
          <a:p>
            <a:r>
              <a:rPr lang="en-US"/>
              <a:t>KINGS: Facebook said not yet rated. We do not rate. Zero claim groups is unknown, not a badge.</a:t>
            </a:r>
          </a:p>
          <a:p>
            <a:endParaRPr lang="en-US"/>
          </a:p>
          <a:p>
            <a:r>
              <a:rPr lang="en-US"/>
              <a:t>FEES: Public poster, extracted. Nursery 19.25 million, Year 10 30.8 million. Label is likely - one source.</a:t>
            </a:r>
          </a:p>
          <a:p>
            <a:endParaRPr lang="en-US"/>
          </a:p>
          <a:p>
            <a:r>
              <a:rPr lang="en-US"/>
              <a:t>ASK: The parent question is fees, not which school is better. If Ask is silent, the poster is still the answer.</a:t>
            </a:r>
          </a:p>
          <a:p>
            <a:endParaRPr lang="en-US"/>
          </a:p>
          <a:p>
            <a:r>
              <a:rPr lang="en-US"/>
              <a:t>Do not name a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ECC0-E331-4A46-9926-050F4EEFDB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88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7:20-8:00</a:t>
            </a:r>
          </a:p>
          <a:p>
            <a:r>
              <a:rPr lang="en-US"/>
              <a:t>Let me put us back in that Facebook thread.</a:t>
            </a:r>
          </a:p>
          <a:p>
            <a:endParaRPr lang="en-US"/>
          </a:p>
          <a:p>
            <a:r>
              <a:rPr lang="en-US"/>
              <a:t>They asked Yangon American or KINGS, and what the fees are. Facebook gave 84 percent and not yet rated.</a:t>
            </a:r>
          </a:p>
          <a:p>
            <a:endParaRPr lang="en-US"/>
          </a:p>
          <a:p>
            <a:r>
              <a:rPr lang="en-US"/>
              <a:t>What we can hand them is not a winner. If a name is missing, unknown. If a poster is on file, likely. The parent still chooses.</a:t>
            </a:r>
          </a:p>
          <a:p>
            <a:endParaRPr lang="en-US"/>
          </a:p>
          <a:p>
            <a:r>
              <a:rPr lang="en-US"/>
              <a:t>Directories invent a number one. Facebook invents a percent. Chatbots invent fluency.</a:t>
            </a:r>
          </a:p>
          <a:p>
            <a:endParaRPr lang="en-US"/>
          </a:p>
          <a:p>
            <a:r>
              <a:rPr lang="en-US"/>
              <a:t>SchoolLens tells that family what sources say - and how sure we are.</a:t>
            </a:r>
          </a:p>
          <a:p>
            <a:endParaRPr lang="en-US"/>
          </a:p>
          <a:p>
            <a:r>
              <a:rPr lang="en-US"/>
              <a:t>I will stop there.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ECC0-E331-4A46-9926-050F4EEFDB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0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AA85-3E57-F9A3-796F-5916D5EB4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29CD5-EA5E-3884-3C46-57D135505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2D6CE-7332-6714-E401-61ED3015B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25AAF-2108-488E-3E58-6F5C5853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C3A78-7BBD-4347-127E-6E11C6ED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7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4BA7-8DBB-387A-888C-CFACF17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282B8-E42C-9A21-6DBD-2BE479DA5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286BA-0532-DACC-D9FE-07E44EA8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6C104-74AE-B52A-C76F-D7E5BA76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ACC8D-5161-FD1A-D5C9-4A7EC74D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3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3E263-42AA-3AC5-55F6-941154850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D21B4-4D52-9FA3-42E9-B9FA39507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D8520-B3D9-12B1-6025-9552AF82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08D9F-275C-744E-920E-81EF354B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2DC07-E32E-77F3-751B-DA24FD67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1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3189-2879-050F-3BA9-F5F07C0E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3EE87-16C6-2B88-483A-64EEA4365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30683-DDD6-3E79-6A93-65095B1CC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4860F-C6C4-DC43-D146-F4C9A0C2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87414-1C4B-4358-1A0B-BE92E7984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EB2AD-109D-7662-69C5-D095F601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08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075F4-8766-B511-DE78-6CEBD085E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A33F2-F14A-7B4F-BCA0-52D0CF13D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3162C-F6A4-5DBE-DA30-8534D00C5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890D9-2427-A5DF-FE23-50C6FDE8B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B8BED-E8A6-F49A-CDCA-A71E1E103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602A1A-D3F1-7CB2-78F1-F65FCF7E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2DA3E-FE53-029D-1DA4-39F0B558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03F44-3647-357F-37F6-FA0617CF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0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E896-B113-05FD-DCF0-EC78BCB3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D6750-4BAD-E1D6-9F62-2A973DDD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6C92B-DFBE-C26F-83E4-3809F428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E4E31-5EE8-BEE1-3AE3-1B1E47C3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0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82BEA-E6CE-0FAC-E297-6DB9632C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E24DB-12DF-E151-F1C7-57BE96EA8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DB5D2-D0FC-6F10-3A22-70FB67F5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7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649D-C006-09FD-D859-199B89EE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E26A3-2F4A-0DAE-3ADB-EC0664BE7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79239-4C98-F3AB-7628-09CBAA9CD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F303E-E829-F8F8-4FCC-784D1CCD8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BF02B-4C77-2239-115B-A09A5F9E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B3B8B-3EBE-D09D-739E-A0A86ED8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9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63B9-564C-80CF-36DE-85F42729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CEF07C-E484-6291-E44B-D4196A648A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97B82-AD1A-8326-E5C5-99076B694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DC4A1-A774-60A8-31B0-16140E8D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59A25-4A19-780A-85BB-346F4A96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F3CA6-896F-7802-D3CB-86FE081A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B2CD-BE68-0053-94D1-6E44D5EB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E59CE-E8F8-E540-E4B4-366D37744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05037-3B3E-DF45-BCF6-206096C4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B2FDC-FA6A-A611-191A-9EADAB6C4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C1B80-D016-1E6B-E5CE-C51D28B6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2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534F9-DDA5-3F85-0209-99A61C37C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ADC8-F169-29C4-E3B8-780659132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30766-4424-2810-3306-38D85A08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1CFA8-0DA3-0BF2-5E4A-82E824B6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21476-A02F-F4F3-FF6B-22073A79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23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7D6F5C-4289-F8A4-4B51-9E300EBD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83F4E-E179-9F8F-A2AA-A006CCCE9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ABEA7-0CF5-92E6-2A76-8A860D57E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10E87-AF67-44C6-BFD6-BB874398281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2A660-9DC7-7D1F-18CD-FF016582C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85EE2-BB73-1AB9-9F7A-F41AA2893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B26D4-1D49-4D1B-9C03-05801983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7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03EC7-125D-A50D-8DDF-CA935282AA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5D2135-343A-4E22-9C49-E4AD624E0888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38A3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CC4B0-1089-DD99-1B88-7CC610471C7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55600"/>
            <a:ext cx="533400" cy="53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8E2B24-383F-A8D7-907B-ABDB73D441DC}"/>
              </a:ext>
            </a:extLst>
          </p:cNvPr>
          <p:cNvSpPr txBox="1"/>
          <p:nvPr/>
        </p:nvSpPr>
        <p:spPr>
          <a:xfrm>
            <a:off x="1168400" y="457200"/>
            <a:ext cx="635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38A39A"/>
                </a:solidFill>
                <a:latin typeface="Calibri" panose="020F0502020204030204" pitchFamily="34" charset="0"/>
              </a:rPr>
              <a:t>SCHOOLLENS  Â·  8-MINUTE AI BRIEFING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115B2-0FB1-85E1-C495-F67DBAFDC379}"/>
              </a:ext>
            </a:extLst>
          </p:cNvPr>
          <p:cNvSpPr txBox="1"/>
          <p:nvPr/>
        </p:nvSpPr>
        <p:spPr>
          <a:xfrm>
            <a:off x="508000" y="1905000"/>
            <a:ext cx="11176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Georgia" panose="02040502050405020303" pitchFamily="18" charset="0"/>
              </a:rPr>
              <a:t>Yangon American or KINGS?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B2E9B-67A9-2DDB-7C61-F77DA5F4E7D2}"/>
              </a:ext>
            </a:extLst>
          </p:cNvPr>
          <p:cNvSpPr txBox="1"/>
          <p:nvPr/>
        </p:nvSpPr>
        <p:spPr>
          <a:xfrm>
            <a:off x="508000" y="3937000"/>
            <a:ext cx="10414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>
                <a:solidFill>
                  <a:srgbClr val="38A39A"/>
                </a:solidFill>
                <a:latin typeface="Georgia" panose="02040502050405020303" pitchFamily="18" charset="0"/>
              </a:rPr>
              <a:t>Facebook scored them. We open the sources.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0E831-44C0-6A2C-A860-081488BD0790}"/>
              </a:ext>
            </a:extLst>
          </p:cNvPr>
          <p:cNvSpPr txBox="1"/>
          <p:nvPr/>
        </p:nvSpPr>
        <p:spPr>
          <a:xfrm>
            <a:off x="508000" y="6096000"/>
            <a:ext cx="8890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>
                <a:solidFill>
                  <a:srgbClr val="B7C9C4"/>
                </a:solidFill>
                <a:latin typeface="Calibri" panose="020F0502020204030204" pitchFamily="34" charset="0"/>
              </a:rPr>
              <a:t>A real parent enquiry. Silent recording of the running app. No invented ranking.</a:t>
            </a:r>
          </a:p>
        </p:txBody>
      </p:sp>
    </p:spTree>
    <p:extLst>
      <p:ext uri="{BB962C8B-B14F-4D97-AF65-F5344CB8AC3E}">
        <p14:creationId xmlns:p14="http://schemas.microsoft.com/office/powerpoint/2010/main" val="106972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42E698-B298-B269-B3F9-B398C90EA6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051372-D6F2-B0C5-5B50-D95D0C67387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6A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C019F-F4BA-3120-920C-0FAC6617AC6C}"/>
              </a:ext>
            </a:extLst>
          </p:cNvPr>
          <p:cNvSpPr txBox="1"/>
          <p:nvPr/>
        </p:nvSpPr>
        <p:spPr>
          <a:xfrm>
            <a:off x="508000" y="279400"/>
            <a:ext cx="6350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006A63"/>
                </a:solidFill>
                <a:latin typeface="Calibri" panose="020F0502020204030204" pitchFamily="34" charset="0"/>
              </a:rPr>
              <a:t>REAL PARENT  Â·  INTERNATIONAL SCHOOL REVIEW MYANMAR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E759F-C52E-D652-F183-7E890DBDFED6}"/>
              </a:ext>
            </a:extLst>
          </p:cNvPr>
          <p:cNvSpPr txBox="1"/>
          <p:nvPr/>
        </p:nvSpPr>
        <p:spPr>
          <a:xfrm>
            <a:off x="508000" y="660400"/>
            <a:ext cx="6096000" cy="789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B355A"/>
                </a:solidFill>
                <a:latin typeface="Georgia" panose="02040502050405020303" pitchFamily="18" charset="0"/>
              </a:rPr>
              <a:t>This parent asked a fee question. Facebook answered with a score.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0766F-FE1B-149D-9D6F-4C3E66A40817}"/>
              </a:ext>
            </a:extLst>
          </p:cNvPr>
          <p:cNvSpPr txBox="1"/>
          <p:nvPr/>
        </p:nvSpPr>
        <p:spPr>
          <a:xfrm>
            <a:off x="508000" y="2540000"/>
            <a:ext cx="5969000" cy="7437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5C6B80"/>
                </a:solidFill>
                <a:latin typeface="Calibri" panose="020F0502020204030204" pitchFamily="34" charset="0"/>
              </a:rPr>
              <a:t>Yangon American or KINGS Pun Hlaing. They compared deposits and yearly fees in Burmese. The group UI answered 84 percent recommended versus not yet rated.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979C75-E570-1756-1D9F-9CF6035ACBDB}"/>
              </a:ext>
            </a:extLst>
          </p:cNvPr>
          <p:cNvSpPr/>
          <p:nvPr/>
        </p:nvSpPr>
        <p:spPr>
          <a:xfrm>
            <a:off x="508000" y="41910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E8F8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1B55B-27CC-D0BE-F122-1932CB7CBDB5}"/>
              </a:ext>
            </a:extLst>
          </p:cNvPr>
          <p:cNvSpPr txBox="1"/>
          <p:nvPr/>
        </p:nvSpPr>
        <p:spPr>
          <a:xfrm>
            <a:off x="508000" y="4216400"/>
            <a:ext cx="1905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06A63"/>
                </a:solidFill>
                <a:latin typeface="Calibri" panose="020F0502020204030204" pitchFamily="34" charset="0"/>
              </a:rPr>
              <a:t>Yangon American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6087FA-DF59-5766-FB3B-CFD970F53497}"/>
              </a:ext>
            </a:extLst>
          </p:cNvPr>
          <p:cNvSpPr/>
          <p:nvPr/>
        </p:nvSpPr>
        <p:spPr>
          <a:xfrm>
            <a:off x="2514600" y="41910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E8F8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92A373-53E5-F85A-28F1-5E0852754895}"/>
              </a:ext>
            </a:extLst>
          </p:cNvPr>
          <p:cNvSpPr txBox="1"/>
          <p:nvPr/>
        </p:nvSpPr>
        <p:spPr>
          <a:xfrm>
            <a:off x="2514600" y="4216400"/>
            <a:ext cx="1905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06A63"/>
                </a:solidFill>
                <a:latin typeface="Calibri" panose="020F0502020204030204" pitchFamily="34" charset="0"/>
              </a:rPr>
              <a:t>KINGS Pun Hlaing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DC977E-378A-2DB0-A87E-6DAAE1E5FBE9}"/>
              </a:ext>
            </a:extLst>
          </p:cNvPr>
          <p:cNvSpPr/>
          <p:nvPr/>
        </p:nvSpPr>
        <p:spPr>
          <a:xfrm>
            <a:off x="4521200" y="4191000"/>
            <a:ext cx="1905000" cy="355600"/>
          </a:xfrm>
          <a:prstGeom prst="roundRect">
            <a:avLst>
              <a:gd name="adj" fmla="val 50000"/>
            </a:avLst>
          </a:prstGeom>
          <a:solidFill>
            <a:srgbClr val="E8F8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BF584-9508-DFE5-A382-D9AC4F81FEEC}"/>
              </a:ext>
            </a:extLst>
          </p:cNvPr>
          <p:cNvSpPr txBox="1"/>
          <p:nvPr/>
        </p:nvSpPr>
        <p:spPr>
          <a:xfrm>
            <a:off x="4521200" y="4216400"/>
            <a:ext cx="1905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06A63"/>
                </a:solidFill>
                <a:latin typeface="Calibri" panose="020F0502020204030204" pitchFamily="34" charset="0"/>
              </a:rPr>
              <a:t>84% recommended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D93A00-B9F7-479A-0A21-87CAD351038B}"/>
              </a:ext>
            </a:extLst>
          </p:cNvPr>
          <p:cNvSpPr/>
          <p:nvPr/>
        </p:nvSpPr>
        <p:spPr>
          <a:xfrm>
            <a:off x="6527800" y="41910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E8F8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604F8D-76D1-A47B-2CFC-6CD97FE0421F}"/>
              </a:ext>
            </a:extLst>
          </p:cNvPr>
          <p:cNvSpPr txBox="1"/>
          <p:nvPr/>
        </p:nvSpPr>
        <p:spPr>
          <a:xfrm>
            <a:off x="6527800" y="4216400"/>
            <a:ext cx="177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006A63"/>
                </a:solidFill>
                <a:latin typeface="Calibri" panose="020F0502020204030204" pitchFamily="34" charset="0"/>
              </a:rPr>
              <a:t>Not yet rated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AA5B49-2950-EA12-3B4D-EC34132B0D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8"/>
          <a:stretch>
            <a:fillRect/>
          </a:stretch>
        </p:blipFill>
        <p:spPr>
          <a:xfrm>
            <a:off x="6858000" y="609600"/>
            <a:ext cx="4826000" cy="512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2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8E0084-B9DD-402F-B35F-5F53C0587A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C6A02-CD47-85AE-75D8-6218F0B53F7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6A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D669B-E8EF-6407-6906-56079D92C96A}"/>
              </a:ext>
            </a:extLst>
          </p:cNvPr>
          <p:cNvSpPr txBox="1"/>
          <p:nvPr/>
        </p:nvSpPr>
        <p:spPr>
          <a:xfrm>
            <a:off x="508000" y="279400"/>
            <a:ext cx="10160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006A63"/>
                </a:solidFill>
                <a:latin typeface="Calibri" panose="020F0502020204030204" pitchFamily="34" charset="0"/>
              </a:rPr>
              <a:t>THE GAP SCHOOLLENS FILLS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A470C-C60E-183A-9FCA-50B3361D4ED8}"/>
              </a:ext>
            </a:extLst>
          </p:cNvPr>
          <p:cNvSpPr txBox="1"/>
          <p:nvPr/>
        </p:nvSpPr>
        <p:spPr>
          <a:xfrm>
            <a:off x="508000" y="635000"/>
            <a:ext cx="11176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B355A"/>
                </a:solidFill>
                <a:latin typeface="Georgia" panose="02040502050405020303" pitchFamily="18" charset="0"/>
              </a:rPr>
              <a:t>They need facts they can inspect. The group will send opinions.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6FA7C7-D8BE-3931-AFE7-382E4997208E}"/>
              </a:ext>
            </a:extLst>
          </p:cNvPr>
          <p:cNvSpPr/>
          <p:nvPr/>
        </p:nvSpPr>
        <p:spPr>
          <a:xfrm>
            <a:off x="508000" y="1905000"/>
            <a:ext cx="3556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774F05-7B7E-DD6F-1BD4-6D5CB468FC22}"/>
              </a:ext>
            </a:extLst>
          </p:cNvPr>
          <p:cNvSpPr/>
          <p:nvPr/>
        </p:nvSpPr>
        <p:spPr>
          <a:xfrm>
            <a:off x="508000" y="1905000"/>
            <a:ext cx="3556000" cy="76200"/>
          </a:xfrm>
          <a:prstGeom prst="rect">
            <a:avLst/>
          </a:prstGeom>
          <a:solidFill>
            <a:srgbClr val="38A3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D1D26-6DD6-4DCA-D595-B4B63C849450}"/>
              </a:ext>
            </a:extLst>
          </p:cNvPr>
          <p:cNvSpPr txBox="1"/>
          <p:nvPr/>
        </p:nvSpPr>
        <p:spPr>
          <a:xfrm>
            <a:off x="736600" y="2184400"/>
            <a:ext cx="30988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006A63"/>
                </a:solidFill>
                <a:latin typeface="Calibri" panose="020F0502020204030204" pitchFamily="34" charset="0"/>
              </a:rPr>
              <a:t>FACEBOOK TONIGHT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87BD1-68DC-71BE-4358-86518F73EAE2}"/>
              </a:ext>
            </a:extLst>
          </p:cNvPr>
          <p:cNvSpPr txBox="1"/>
          <p:nvPr/>
        </p:nvSpPr>
        <p:spPr>
          <a:xfrm>
            <a:off x="736600" y="2590800"/>
            <a:ext cx="3098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1B355A"/>
                </a:solidFill>
                <a:latin typeface="Georgia" panose="02040502050405020303" pitchFamily="18" charset="0"/>
              </a:rPr>
              <a:t>84% recommended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13B3B-53F4-FCB0-6F72-A82897F2E42D}"/>
              </a:ext>
            </a:extLst>
          </p:cNvPr>
          <p:cNvSpPr txBox="1"/>
          <p:nvPr/>
        </p:nvSpPr>
        <p:spPr>
          <a:xfrm>
            <a:off x="736600" y="3556000"/>
            <a:ext cx="3098800" cy="69762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5C6B80"/>
                </a:solidFill>
                <a:latin typeface="Calibri" panose="020F0502020204030204" pitchFamily="34" charset="0"/>
              </a:rPr>
              <a:t>A page score and a not-yet-rated badge. No excerpt. No date. No fee poster you can open.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952EB1-9E57-1EE4-9CB1-18A0C412AB9F}"/>
              </a:ext>
            </a:extLst>
          </p:cNvPr>
          <p:cNvSpPr/>
          <p:nvPr/>
        </p:nvSpPr>
        <p:spPr>
          <a:xfrm>
            <a:off x="4318000" y="1905000"/>
            <a:ext cx="3556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E46013-AD7A-D304-9F2E-1EB28280A9D9}"/>
              </a:ext>
            </a:extLst>
          </p:cNvPr>
          <p:cNvSpPr/>
          <p:nvPr/>
        </p:nvSpPr>
        <p:spPr>
          <a:xfrm>
            <a:off x="4318000" y="1905000"/>
            <a:ext cx="3556000" cy="76200"/>
          </a:xfrm>
          <a:prstGeom prst="rect">
            <a:avLst/>
          </a:prstGeom>
          <a:solidFill>
            <a:srgbClr val="38A3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6DEB8-7503-4700-F83D-84EBE2EAEE62}"/>
              </a:ext>
            </a:extLst>
          </p:cNvPr>
          <p:cNvSpPr txBox="1"/>
          <p:nvPr/>
        </p:nvSpPr>
        <p:spPr>
          <a:xfrm>
            <a:off x="4546600" y="2184400"/>
            <a:ext cx="30988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006A63"/>
                </a:solidFill>
                <a:latin typeface="Calibri" panose="020F0502020204030204" pitchFamily="34" charset="0"/>
              </a:rPr>
              <a:t>THIS PARENT NEEDS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693D25-A923-066C-2D36-D9F071D22796}"/>
              </a:ext>
            </a:extLst>
          </p:cNvPr>
          <p:cNvSpPr txBox="1"/>
          <p:nvPr/>
        </p:nvSpPr>
        <p:spPr>
          <a:xfrm>
            <a:off x="4546600" y="2590800"/>
            <a:ext cx="3098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1B355A"/>
                </a:solidFill>
                <a:latin typeface="Georgia" panose="02040502050405020303" pitchFamily="18" charset="0"/>
              </a:rPr>
              <a:t>Fees they can inspect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7E259-0FB1-6F2A-8154-1C5FF00C1366}"/>
              </a:ext>
            </a:extLst>
          </p:cNvPr>
          <p:cNvSpPr txBox="1"/>
          <p:nvPr/>
        </p:nvSpPr>
        <p:spPr>
          <a:xfrm>
            <a:off x="4546600" y="3556000"/>
            <a:ext cx="3098800" cy="69762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5C6B80"/>
                </a:solidFill>
                <a:latin typeface="Calibri" panose="020F0502020204030204" pitchFamily="34" charset="0"/>
              </a:rPr>
              <a:t>Deposit, early-bird, Nursery, Year 10. Gossip numbers stay gossip until a source is on file.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00690C-F95C-ED4C-AFE7-1F238C01F38F}"/>
              </a:ext>
            </a:extLst>
          </p:cNvPr>
          <p:cNvSpPr/>
          <p:nvPr/>
        </p:nvSpPr>
        <p:spPr>
          <a:xfrm>
            <a:off x="8128000" y="1905000"/>
            <a:ext cx="3556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BF5EF7-C725-1854-7987-28184693261A}"/>
              </a:ext>
            </a:extLst>
          </p:cNvPr>
          <p:cNvSpPr/>
          <p:nvPr/>
        </p:nvSpPr>
        <p:spPr>
          <a:xfrm>
            <a:off x="8128000" y="1905000"/>
            <a:ext cx="3556000" cy="76200"/>
          </a:xfrm>
          <a:prstGeom prst="rect">
            <a:avLst/>
          </a:prstGeom>
          <a:solidFill>
            <a:srgbClr val="38A3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91569C-C8DD-2008-D8AC-4DD15B4AFD93}"/>
              </a:ext>
            </a:extLst>
          </p:cNvPr>
          <p:cNvSpPr txBox="1"/>
          <p:nvPr/>
        </p:nvSpPr>
        <p:spPr>
          <a:xfrm>
            <a:off x="8356600" y="2184400"/>
            <a:ext cx="30988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006A63"/>
                </a:solidFill>
                <a:latin typeface="Calibri" panose="020F0502020204030204" pitchFamily="34" charset="0"/>
              </a:rPr>
              <a:t>SCHOOLLENS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5FA58-44B1-10C7-72AB-462837D6C7D5}"/>
              </a:ext>
            </a:extLst>
          </p:cNvPr>
          <p:cNvSpPr txBox="1"/>
          <p:nvPr/>
        </p:nvSpPr>
        <p:spPr>
          <a:xfrm>
            <a:off x="8356600" y="2590800"/>
            <a:ext cx="30988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1B355A"/>
                </a:solidFill>
                <a:latin typeface="Georgia" panose="02040502050405020303" pitchFamily="18" charset="0"/>
              </a:rPr>
              <a:t>Collect Â· reconcile Â· 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AB707A-45CC-C90F-630A-CA62D1938437}"/>
              </a:ext>
            </a:extLst>
          </p:cNvPr>
          <p:cNvSpPr txBox="1"/>
          <p:nvPr/>
        </p:nvSpPr>
        <p:spPr>
          <a:xfrm>
            <a:off x="8356600" y="3556000"/>
            <a:ext cx="3098800" cy="69762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5C6B80"/>
                </a:solidFill>
                <a:latin typeface="Calibri" panose="020F0502020204030204" pitchFamily="34" charset="0"/>
              </a:rPr>
              <a:t>Show the poster. Label it likely until a second source agrees. If a name has no record, say unknown - do not invent 84%.</a:t>
            </a:r>
          </a:p>
        </p:txBody>
      </p:sp>
    </p:spTree>
    <p:extLst>
      <p:ext uri="{BB962C8B-B14F-4D97-AF65-F5344CB8AC3E}">
        <p14:creationId xmlns:p14="http://schemas.microsoft.com/office/powerpoint/2010/main" val="260121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42AF7B-EE84-F844-C803-6900AB1697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C79B61-E224-540C-4050-EE42C53D39F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A39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6D802-6C80-CEBC-74E1-362187414FEC}"/>
              </a:ext>
            </a:extLst>
          </p:cNvPr>
          <p:cNvSpPr txBox="1"/>
          <p:nvPr/>
        </p:nvSpPr>
        <p:spPr>
          <a:xfrm>
            <a:off x="508000" y="203200"/>
            <a:ext cx="8890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38A39A"/>
                </a:solidFill>
                <a:latin typeface="Calibri" panose="020F0502020204030204" pitchFamily="34" charset="0"/>
              </a:rPr>
              <a:t>CLICK ONCE TO PLAY  Â·  SCREEN RECORDING OF THE LIVE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F7814-115C-8131-3494-403F070E00FA}"/>
              </a:ext>
            </a:extLst>
          </p:cNvPr>
          <p:cNvSpPr txBox="1"/>
          <p:nvPr/>
        </p:nvSpPr>
        <p:spPr>
          <a:xfrm>
            <a:off x="508000" y="457200"/>
            <a:ext cx="11176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B7C9C4"/>
                </a:solidFill>
                <a:latin typeface="Calibri" panose="020F0502020204030204" pitchFamily="34" charset="0"/>
              </a:rPr>
              <a:t>Same path as the product: the Facebook post, Yangon American empty, KINGS fees labelled likely.</a:t>
            </a:r>
          </a:p>
        </p:txBody>
      </p:sp>
      <p:pic>
        <p:nvPicPr>
          <p:cNvPr id="6" name="SchoolLens-parent-enquiry-silent">
            <a:hlinkClick r:id="" action="ppaction://media"/>
            <a:extLst>
              <a:ext uri="{FF2B5EF4-FFF2-40B4-BE49-F238E27FC236}">
                <a16:creationId xmlns:a16="http://schemas.microsoft.com/office/drawing/2014/main" id="{4D61A4E6-825B-0BE4-E961-EA5DB0CA64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22400" y="863600"/>
            <a:ext cx="9347200" cy="584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7CDAB6-3706-11B8-4746-CEF4348E6E0F}"/>
              </a:ext>
            </a:extLst>
          </p:cNvPr>
          <p:cNvSpPr txBox="1"/>
          <p:nvPr/>
        </p:nvSpPr>
        <p:spPr>
          <a:xfrm>
            <a:off x="508000" y="6451600"/>
            <a:ext cx="11176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B7C9C4"/>
                </a:solidFill>
                <a:latin typeface="Calibri" panose="020F0502020204030204" pitchFamily="34" charset="0"/>
              </a:rPr>
              <a:t>1 min 31 sec  Â·  silent  Â·  pause if you need to talk  Â·  actual SchoolLens UI, not a mock</a:t>
            </a:r>
          </a:p>
        </p:txBody>
      </p:sp>
    </p:spTree>
    <p:extLst>
      <p:ext uri="{BB962C8B-B14F-4D97-AF65-F5344CB8AC3E}">
        <p14:creationId xmlns:p14="http://schemas.microsoft.com/office/powerpoint/2010/main" val="400315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12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55C2AD-8B37-1D38-2FA5-6D13DCED32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C965B7-55C3-F718-58E0-5A0A216938F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6A6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908DFD-E084-C9CB-CF05-FDE3FBD33107}"/>
              </a:ext>
            </a:extLst>
          </p:cNvPr>
          <p:cNvSpPr txBox="1"/>
          <p:nvPr/>
        </p:nvSpPr>
        <p:spPr>
          <a:xfrm>
            <a:off x="508000" y="279400"/>
            <a:ext cx="10160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006A63"/>
                </a:solidFill>
                <a:latin typeface="Calibri" panose="020F0502020204030204" pitchFamily="34" charset="0"/>
              </a:rPr>
              <a:t>BACK TO THAT PARENT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5439E-B7AD-F702-84FC-924DE509B250}"/>
              </a:ext>
            </a:extLst>
          </p:cNvPr>
          <p:cNvSpPr txBox="1"/>
          <p:nvPr/>
        </p:nvSpPr>
        <p:spPr>
          <a:xfrm>
            <a:off x="508000" y="660400"/>
            <a:ext cx="11176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B355A"/>
                </a:solidFill>
                <a:latin typeface="Georgia" panose="02040502050405020303" pitchFamily="18" charset="0"/>
              </a:rPr>
              <a:t>They asked for a score. We can hand them a source.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97AD13-2B26-112D-683E-1128AC5448BD}"/>
              </a:ext>
            </a:extLst>
          </p:cNvPr>
          <p:cNvSpPr/>
          <p:nvPr/>
        </p:nvSpPr>
        <p:spPr>
          <a:xfrm>
            <a:off x="508000" y="1905000"/>
            <a:ext cx="1117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F9B04-B4F1-BEB1-8E2D-5B89A5E75BBE}"/>
              </a:ext>
            </a:extLst>
          </p:cNvPr>
          <p:cNvSpPr txBox="1"/>
          <p:nvPr/>
        </p:nvSpPr>
        <p:spPr>
          <a:xfrm>
            <a:off x="736600" y="2108200"/>
            <a:ext cx="1778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006A63"/>
                </a:solidFill>
                <a:latin typeface="Georgia" panose="02040502050405020303" pitchFamily="18" charset="0"/>
              </a:rPr>
              <a:t>Not this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781EE-33B5-E390-5C4C-FB90BC411421}"/>
              </a:ext>
            </a:extLst>
          </p:cNvPr>
          <p:cNvSpPr txBox="1"/>
          <p:nvPr/>
        </p:nvSpPr>
        <p:spPr>
          <a:xfrm>
            <a:off x="2667000" y="2133600"/>
            <a:ext cx="863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1B355A"/>
                </a:solidFill>
                <a:latin typeface="Calibri" panose="020F0502020204030204" pitchFamily="34" charset="0"/>
              </a:rPr>
              <a:t>84 percent recommended versus not yet rated. A comment thread about 15 million and 20 million kyat.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7B2157-4563-67F0-BA26-356848F9AFCA}"/>
              </a:ext>
            </a:extLst>
          </p:cNvPr>
          <p:cNvSpPr/>
          <p:nvPr/>
        </p:nvSpPr>
        <p:spPr>
          <a:xfrm>
            <a:off x="508000" y="3200400"/>
            <a:ext cx="1117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38173-BDDE-93AC-824C-13AB42F9082A}"/>
              </a:ext>
            </a:extLst>
          </p:cNvPr>
          <p:cNvSpPr txBox="1"/>
          <p:nvPr/>
        </p:nvSpPr>
        <p:spPr>
          <a:xfrm>
            <a:off x="736600" y="3403600"/>
            <a:ext cx="1778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006A63"/>
                </a:solidFill>
                <a:latin typeface="Georgia" panose="02040502050405020303" pitchFamily="18" charset="0"/>
              </a:rPr>
              <a:t>This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3E2AA-6D10-DEE9-65EE-0B2F1FA8A61B}"/>
              </a:ext>
            </a:extLst>
          </p:cNvPr>
          <p:cNvSpPr txBox="1"/>
          <p:nvPr/>
        </p:nvSpPr>
        <p:spPr>
          <a:xfrm>
            <a:off x="2667000" y="3429000"/>
            <a:ext cx="863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1B355A"/>
                </a:solidFill>
                <a:latin typeface="Calibri" panose="020F0502020204030204" pitchFamily="34" charset="0"/>
              </a:rPr>
              <a:t>Yangon American stays unknown if we have no record. KINGS fees stay likely until a second source agrees.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1C5D0D-CB0D-3C88-7AD3-1DCBF454B872}"/>
              </a:ext>
            </a:extLst>
          </p:cNvPr>
          <p:cNvSpPr/>
          <p:nvPr/>
        </p:nvSpPr>
        <p:spPr>
          <a:xfrm>
            <a:off x="508000" y="4495800"/>
            <a:ext cx="1117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EF5520-DB49-0252-3521-43EE25BD53C6}"/>
              </a:ext>
            </a:extLst>
          </p:cNvPr>
          <p:cNvSpPr txBox="1"/>
          <p:nvPr/>
        </p:nvSpPr>
        <p:spPr>
          <a:xfrm>
            <a:off x="736600" y="4699000"/>
            <a:ext cx="1778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006A63"/>
                </a:solidFill>
                <a:latin typeface="Georgia" panose="02040502050405020303" pitchFamily="18" charset="0"/>
              </a:rPr>
              <a:t>The 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75E91-C995-126B-DB78-B20AF3DED20D}"/>
              </a:ext>
            </a:extLst>
          </p:cNvPr>
          <p:cNvSpPr txBox="1"/>
          <p:nvPr/>
        </p:nvSpPr>
        <p:spPr>
          <a:xfrm>
            <a:off x="2667000" y="4724400"/>
            <a:ext cx="863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1B355A"/>
                </a:solidFill>
                <a:latin typeface="Calibri" panose="020F0502020204030204" pitchFamily="34" charset="0"/>
              </a:rPr>
              <a:t>The AI still does not pick Yangon American or KINGS. It shows the poster - or says we do not have one.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E6B01E-CD7F-6676-269B-D1FE478002FF}"/>
              </a:ext>
            </a:extLst>
          </p:cNvPr>
          <p:cNvSpPr txBox="1"/>
          <p:nvPr/>
        </p:nvSpPr>
        <p:spPr>
          <a:xfrm>
            <a:off x="508000" y="6350000"/>
            <a:ext cx="11176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>
                <a:solidFill>
                  <a:srgbClr val="5C6B80"/>
                </a:solidFill>
                <a:latin typeface="Calibri" panose="020F0502020204030204" pitchFamily="34" charset="0"/>
              </a:rPr>
              <a:t>Directories invent a number one. Facebook invents a percent. SchoolLens labels evidence.</a:t>
            </a:r>
          </a:p>
        </p:txBody>
      </p:sp>
    </p:spTree>
    <p:extLst>
      <p:ext uri="{BB962C8B-B14F-4D97-AF65-F5344CB8AC3E}">
        <p14:creationId xmlns:p14="http://schemas.microsoft.com/office/powerpoint/2010/main" val="24533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Microsoft Office PowerPoint</Application>
  <PresentationFormat>Custom</PresentationFormat>
  <Paragraphs>86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Soe Min Tun - VSK YGN</dc:creator>
  <cp:lastModifiedBy>Soe Min Tun - VSK YGN</cp:lastModifiedBy>
  <cp:revision>1</cp:revision>
  <dcterms:created xsi:type="dcterms:W3CDTF">2026-10-02T10:18:24Z</dcterms:created>
  <dcterms:modified xsi:type="dcterms:W3CDTF">2026-10-02T10:18:24Z</dcterms:modified>
</cp:coreProperties>
</file>
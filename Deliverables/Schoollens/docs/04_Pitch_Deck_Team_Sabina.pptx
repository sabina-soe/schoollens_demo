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4" d="100"/>
          <a:sy n="74" d="100"/>
        </p:scale>
        <p:origin x="352"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2134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esteemed judges, teachers, and fellow innovators. My name is Soe, I am 15 years old, and I am an IGCSE student here in Yangon.</a:t>
            </a:r>
          </a:p>
          <a:p>
            <a:endParaRPr/>
          </a:p>
          <a:p>
            <a:r>
              <a:t>Today, I am proud to present SchoolLens — an AI-driven educational evidence platform that turns the messy, rumor-filled world of Myanmar school information into grounded, verifiable truth.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nearly ten years, I studied under the American curriculum at Future Kidz International School. When I reached Grade 9, my family and I decided that I should transition to the British IGCSE curriculum at City School Yangon to prepare for university abroad.</a:t>
            </a:r>
          </a:p>
          <a:p>
            <a:endParaRPr/>
          </a:p>
          <a:p>
            <a:r>
              <a:t>Moving schools after almost a decade is already terrifying. But what shocked us most was how difficult it was just to find honest facts about schools in Yangon. We spent stressful weeks scrolling through random Facebook posts late at night, reading outdated 2022 flyers, and trying to guess whether schools were actually accredited by the Ministry of Education.</a:t>
            </a:r>
          </a:p>
          <a:p>
            <a:endParaRPr/>
          </a:p>
          <a:p>
            <a:r>
              <a:t>My father always taught me that when something is confusing, explaining and teaching it to others is the best way to understand and find knowledge gaps. That personal struggle inspired me to build SchoolLens.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Myanmar parents don't lack school advertisements — we lack verifiable evidence.</a:t>
            </a:r>
          </a:p>
          <a:p>
            <a:endParaRPr/>
          </a:p>
          <a:p>
            <a:r>
              <a:t>Over 80% of real-time school announcements are buried in unstructured Facebook posts. Official school websites are often abandoned for three or four years, advertising old fees while real 2026 inflation fees are only mentioned in Viber chats. Important parent reviews are in Burmese, while accreditations are in English.</a:t>
            </a:r>
          </a:p>
          <a:p>
            <a:endParaRPr/>
          </a:p>
          <a:p>
            <a:r>
              <a:t>Worst of all, existing review sites use 5-star ratings that are easily bought by marketing teams. In education, a 5-star badge doesn't tell a mother if the science lab has real equipment or if teachers leave mid-year.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SchoolLens replaces subjective star ratings with an objective Evidence Ledger.</a:t>
            </a:r>
          </a:p>
          <a:p>
            <a:endParaRPr/>
          </a:p>
          <a:p>
            <a:r>
              <a:t>Our AI does not tell parents which school is 'best' — because every child has unique needs. Instead, SchoolLens continuously crawls government registries, school websites, and Facebook pages, extracts discrete factual claims, checks if they agree or contradict each other, and displays clear confidence badges.</a:t>
            </a:r>
          </a:p>
          <a:p>
            <a:endParaRPr/>
          </a:p>
          <a:p>
            <a:r>
              <a:t>If a website fee contradicts a new Facebook announcement, our AI flags the conflict side-by-side. If there is no evidence, it honestly says 'Unknown'. 100% transparency.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Under the hood this is not a chatbot wrapper. Parents hit a Next.js app. Facts live in Postgres with RLS. A FastAPI service crawls sources, extracts claims with Gemini, reconciles them into confidence-labelled groups, and answers questions only from retrieved evidence.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First, ingestion converts Zawgyi to Unicode so Burmese is not corrupted. Gemini Flash-Lite extracts discrete facts — fees, ratios, exam codes — in English while original Burmese quotes stay untouched. Reconciliation groups matching claims and flags contradictions. Grounded Q&amp;A answers only from those groups, with citations.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Let's see the live application. The home page states the product plainly: we reconcile sources, we do not sell a ranking. The directory is the public register — 253 schools, filterable, with a confidence chip on every row and a Conflicts only switch.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a school profile every claim group has a confidence badge. ISY currently shows supported, likely, conflicting, and unknown counts — not a star rating. In the conflict inspector you can see a real disagreement on the admissions email, with both source excerpts kept. If Q&amp;A has no proof, it says no verified evidence. Zero hallucinations.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is the demo centerpiece: parents type a question and receive a cited answer or an honest unknown. Multi-branch schools such as ILBC show the network once, then each campus profile.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How is SchoolLens sustainable? We engineered our system to be extremely frugal. By using modern serverless hosting and efficient API batching, our entire platform covering all 252 registered schools across Myanmar runs for under $15 per month — comfortably within our $20 youth budget.</a:t>
            </a:r>
          </a:p>
          <a:p>
            <a:endParaRPr/>
          </a:p>
          <a:p>
            <a:r>
              <a:t>We follow a strict ethical charter: schools can never pay to change their confidence badge or hide a contradiction. Our revenue comes from software tools for verified school principals to manage official profiles, sponsored open-day event listings, and aggregated education research summaries.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SchoolLens directly supports the United Nations Sustainable Development Goals.</a:t>
            </a:r>
          </a:p>
          <a:p>
            <a:endParaRPr/>
          </a:p>
          <a:p>
            <a:r>
              <a:t>For SDG 4: Quality Education, we ensure students are matched to accredited, recognized schools so their diplomas are valid internationally.</a:t>
            </a:r>
          </a:p>
          <a:p>
            <a:r>
              <a:t>For SDG 10: Reduced Inequalities, we democratize educational data so that every Myanmar parent — regardless of wealth or personal connections — has free access to the truth.</a:t>
            </a:r>
          </a:p>
          <a:p>
            <a:r>
              <a:t>And for SDG 16: Strong Institutions, we encourage private educational centers to be honest, accountable, and transparent.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can't parents just use ChatGPT? General AI chatbots make up school fees, mix up branch locations, and cannot access Myanmar's real-time Facebook ecosystem. Traditional directory sites are just static advertising billboards.</a:t>
            </a:r>
          </a:p>
          <a:p>
            <a:endParaRPr/>
          </a:p>
          <a:p>
            <a:r>
              <a:t>SchoolLens is the only platform combining Myanmar-specific font processing, automated cross-source contradiction detection, and citation-anchored Q&amp;A.</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Education is the single most important investment a Myanmar family can make in their child's future. Having accurate facts puts a family's heart at ease, so students can focus on learning, working hard, and reaching their dreams.</a:t>
            </a:r>
          </a:p>
          <a:p>
            <a:endParaRPr/>
          </a:p>
          <a:p>
            <a:r>
              <a:t>As a 15-year-old student who lived through this problem, I invite you to support SchoolLens in bringing transparency, trust, and intelligence to education in Myanmar.</a:t>
            </a:r>
          </a:p>
          <a:p>
            <a:endParaRPr/>
          </a:p>
          <a:p>
            <a:r>
              <a:t>Thank you very much, and I look forward to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417320"/>
            <a:ext cx="10972800" cy="292388"/>
          </a:xfrm>
          <a:prstGeom prst="rect">
            <a:avLst/>
          </a:prstGeom>
          <a:noFill/>
        </p:spPr>
        <p:txBody>
          <a:bodyPr wrap="square">
            <a:spAutoFit/>
          </a:bodyPr>
          <a:lstStyle/>
          <a:p>
            <a:pPr algn="l"/>
            <a:r>
              <a:rPr lang="en-US" sz="1300" b="1" dirty="0">
                <a:solidFill>
                  <a:srgbClr val="1A7A9C"/>
                </a:solidFill>
                <a:latin typeface="Calibri"/>
              </a:rPr>
              <a:t>Pitch Deck </a:t>
            </a:r>
            <a:r>
              <a:rPr sz="1300" b="1" dirty="0">
                <a:solidFill>
                  <a:srgbClr val="1A7A9C"/>
                </a:solidFill>
                <a:latin typeface="Calibri"/>
              </a:rPr>
              <a:t>AI YOUTH COMPETITION 2026</a:t>
            </a:r>
          </a:p>
        </p:txBody>
      </p:sp>
      <p:sp>
        <p:nvSpPr>
          <p:cNvPr id="4" name="TextBox 3"/>
          <p:cNvSpPr txBox="1"/>
          <p:nvPr/>
        </p:nvSpPr>
        <p:spPr>
          <a:xfrm>
            <a:off x="640080" y="1874519"/>
            <a:ext cx="10972800" cy="1234440"/>
          </a:xfrm>
          <a:prstGeom prst="rect">
            <a:avLst/>
          </a:prstGeom>
          <a:noFill/>
        </p:spPr>
        <p:txBody>
          <a:bodyPr wrap="square">
            <a:spAutoFit/>
          </a:bodyPr>
          <a:lstStyle/>
          <a:p>
            <a:pPr algn="l"/>
            <a:r>
              <a:rPr sz="4000" b="1">
                <a:solidFill>
                  <a:srgbClr val="FFFFFF"/>
                </a:solidFill>
                <a:latin typeface="Calibri"/>
              </a:rPr>
              <a:t>SchoolLens: The Evidence Ledger</a:t>
            </a:r>
          </a:p>
          <a:p>
            <a:pPr algn="l"/>
            <a:r>
              <a:rPr sz="4000" b="1">
                <a:solidFill>
                  <a:srgbClr val="FFFFFF"/>
                </a:solidFill>
                <a:latin typeface="Calibri"/>
              </a:rPr>
              <a:t>for Myanmar Education</a:t>
            </a:r>
          </a:p>
        </p:txBody>
      </p:sp>
      <p:sp>
        <p:nvSpPr>
          <p:cNvPr id="5" name="TextBox 4"/>
          <p:cNvSpPr txBox="1"/>
          <p:nvPr/>
        </p:nvSpPr>
        <p:spPr>
          <a:xfrm>
            <a:off x="640080" y="3246120"/>
            <a:ext cx="10515600" cy="1005840"/>
          </a:xfrm>
          <a:prstGeom prst="rect">
            <a:avLst/>
          </a:prstGeom>
          <a:noFill/>
        </p:spPr>
        <p:txBody>
          <a:bodyPr wrap="square">
            <a:spAutoFit/>
          </a:bodyPr>
          <a:lstStyle/>
          <a:p>
            <a:pPr algn="l"/>
            <a:r>
              <a:rPr sz="1800" b="0">
                <a:solidFill>
                  <a:srgbClr val="D5DCE4"/>
                </a:solidFill>
                <a:latin typeface="Calibri"/>
              </a:rPr>
              <a:t>An AI platform that turns scattered Facebook posts, outdated websites, and MOE records into grounded, citation-backed school facts — without ranking schools.</a:t>
            </a:r>
          </a:p>
        </p:txBody>
      </p:sp>
      <p:sp>
        <p:nvSpPr>
          <p:cNvPr id="6" name="Rectangle 5"/>
          <p:cNvSpPr/>
          <p:nvPr/>
        </p:nvSpPr>
        <p:spPr>
          <a:xfrm>
            <a:off x="640080" y="4572000"/>
            <a:ext cx="2011680" cy="73152"/>
          </a:xfrm>
          <a:prstGeom prst="rect">
            <a:avLst/>
          </a:prstGeom>
          <a:solidFill>
            <a:srgbClr val="1A7A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0080" y="4846320"/>
            <a:ext cx="10972800" cy="338554"/>
          </a:xfrm>
          <a:prstGeom prst="rect">
            <a:avLst/>
          </a:prstGeom>
          <a:noFill/>
        </p:spPr>
        <p:txBody>
          <a:bodyPr wrap="square">
            <a:spAutoFit/>
          </a:bodyPr>
          <a:lstStyle/>
          <a:p>
            <a:pPr algn="l"/>
            <a:r>
              <a:rPr lang="en-US" sz="1600" b="0" dirty="0">
                <a:solidFill>
                  <a:srgbClr val="FFFFFF"/>
                </a:solidFill>
                <a:latin typeface="Calibri"/>
              </a:rPr>
              <a:t>Tean Sabina</a:t>
            </a:r>
            <a:endParaRPr sz="1600" b="0" dirty="0">
              <a:solidFill>
                <a:srgbClr val="FFFFFF"/>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307777"/>
          </a:xfrm>
          <a:prstGeom prst="rect">
            <a:avLst/>
          </a:prstGeom>
          <a:noFill/>
        </p:spPr>
        <p:txBody>
          <a:bodyPr wrap="square">
            <a:spAutoFit/>
          </a:bodyPr>
          <a:lstStyle/>
          <a:p>
            <a:r>
              <a:rPr sz="1400" b="1" dirty="0">
                <a:solidFill>
                  <a:srgbClr val="2F6F62"/>
                </a:solidFill>
                <a:latin typeface="+mj-lt"/>
              </a:rPr>
              <a:t>Why I</a:t>
            </a:r>
            <a:r>
              <a:rPr lang="en-US" sz="1400" b="1" dirty="0">
                <a:solidFill>
                  <a:srgbClr val="2F6F62"/>
                </a:solidFill>
                <a:latin typeface="+mj-lt"/>
              </a:rPr>
              <a:t> built</a:t>
            </a:r>
            <a:r>
              <a:rPr sz="1400" b="1" dirty="0">
                <a:solidFill>
                  <a:srgbClr val="2F6F62"/>
                </a:solidFill>
                <a:latin typeface="+mj-lt"/>
              </a:rPr>
              <a:t> this</a:t>
            </a:r>
          </a:p>
        </p:txBody>
      </p:sp>
      <p:sp>
        <p:nvSpPr>
          <p:cNvPr id="4" name="TextBox 3"/>
          <p:cNvSpPr txBox="1"/>
          <p:nvPr/>
        </p:nvSpPr>
        <p:spPr>
          <a:xfrm>
            <a:off x="502920" y="475488"/>
            <a:ext cx="11155680" cy="640080"/>
          </a:xfrm>
          <a:prstGeom prst="rect">
            <a:avLst/>
          </a:prstGeom>
          <a:noFill/>
        </p:spPr>
        <p:txBody>
          <a:bodyPr wrap="square">
            <a:spAutoFit/>
          </a:bodyPr>
          <a:lstStyle/>
          <a:p>
            <a:pPr algn="l"/>
            <a:r>
              <a:rPr sz="2800" b="1" dirty="0">
                <a:solidFill>
                  <a:srgbClr val="1B2A4A"/>
                </a:solidFill>
                <a:latin typeface="Calibri"/>
              </a:rPr>
              <a:t>From personal frustration to clear action</a:t>
            </a:r>
          </a:p>
        </p:txBody>
      </p:sp>
      <p:sp>
        <p:nvSpPr>
          <p:cNvPr id="5" name="Rounded Rectangle 4"/>
          <p:cNvSpPr/>
          <p:nvPr/>
        </p:nvSpPr>
        <p:spPr>
          <a:xfrm>
            <a:off x="457200" y="1280160"/>
            <a:ext cx="5486400" cy="493776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463040"/>
            <a:ext cx="5029200" cy="3441968"/>
          </a:xfrm>
          <a:prstGeom prst="rect">
            <a:avLst/>
          </a:prstGeom>
          <a:noFill/>
        </p:spPr>
        <p:txBody>
          <a:bodyPr wrap="square">
            <a:spAutoFit/>
          </a:bodyPr>
          <a:lstStyle/>
          <a:p>
            <a:pPr algn="l">
              <a:spcAft>
                <a:spcPts val="400"/>
              </a:spcAft>
            </a:pPr>
            <a:r>
              <a:rPr sz="1600" b="1" dirty="0">
                <a:solidFill>
                  <a:srgbClr val="2F6F62"/>
                </a:solidFill>
                <a:latin typeface="Calibri"/>
              </a:rPr>
              <a:t>The school move</a:t>
            </a:r>
          </a:p>
          <a:p>
            <a:pPr algn="l">
              <a:spcAft>
                <a:spcPts val="1000"/>
              </a:spcAft>
            </a:pPr>
            <a:r>
              <a:rPr sz="1600" b="0" dirty="0">
                <a:solidFill>
                  <a:srgbClr val="1F2422"/>
                </a:solidFill>
                <a:latin typeface="Calibri"/>
              </a:rPr>
              <a:t>Nearly 10 years </a:t>
            </a:r>
            <a:r>
              <a:rPr lang="en-US" sz="1600" dirty="0">
                <a:solidFill>
                  <a:srgbClr val="1F2422"/>
                </a:solidFill>
                <a:latin typeface="Calibri"/>
              </a:rPr>
              <a:t>study</a:t>
            </a:r>
            <a:r>
              <a:rPr sz="1600" b="0" dirty="0">
                <a:solidFill>
                  <a:srgbClr val="1F2422"/>
                </a:solidFill>
                <a:latin typeface="Calibri"/>
              </a:rPr>
              <a:t> American curriculum.</a:t>
            </a:r>
          </a:p>
          <a:p>
            <a:pPr algn="l">
              <a:spcAft>
                <a:spcPts val="1400"/>
              </a:spcAft>
            </a:pPr>
            <a:r>
              <a:rPr sz="1600" b="0" dirty="0">
                <a:solidFill>
                  <a:srgbClr val="1F2422"/>
                </a:solidFill>
                <a:latin typeface="Calibri"/>
              </a:rPr>
              <a:t>Grade 9: family </a:t>
            </a:r>
            <a:r>
              <a:rPr lang="en-US" sz="1600" dirty="0">
                <a:solidFill>
                  <a:srgbClr val="1F2422"/>
                </a:solidFill>
                <a:latin typeface="Calibri"/>
              </a:rPr>
              <a:t>search</a:t>
            </a:r>
            <a:r>
              <a:rPr sz="1600" b="0" dirty="0">
                <a:solidFill>
                  <a:srgbClr val="1F2422"/>
                </a:solidFill>
                <a:latin typeface="Calibri"/>
              </a:rPr>
              <a:t> for British IGCSE and university abroad.</a:t>
            </a:r>
          </a:p>
          <a:p>
            <a:pPr algn="l">
              <a:spcAft>
                <a:spcPts val="400"/>
              </a:spcAft>
            </a:pPr>
            <a:r>
              <a:rPr sz="1600" b="1" dirty="0">
                <a:solidFill>
                  <a:srgbClr val="A94A3D"/>
                </a:solidFill>
                <a:latin typeface="Calibri"/>
              </a:rPr>
              <a:t>What shocked us</a:t>
            </a:r>
          </a:p>
          <a:p>
            <a:pPr algn="l">
              <a:spcAft>
                <a:spcPts val="1400"/>
              </a:spcAft>
            </a:pPr>
            <a:r>
              <a:rPr sz="1600" b="0" dirty="0">
                <a:solidFill>
                  <a:srgbClr val="1F2422"/>
                </a:solidFill>
                <a:latin typeface="Calibri"/>
              </a:rPr>
              <a:t>Finding honest facts in Yangon took stressful weeks: Facebook late at night, 2022 flyers, guessing MOE accreditation.</a:t>
            </a:r>
          </a:p>
          <a:p>
            <a:pPr algn="l">
              <a:spcAft>
                <a:spcPts val="400"/>
              </a:spcAft>
            </a:pPr>
            <a:r>
              <a:rPr sz="1600" b="1" dirty="0">
                <a:solidFill>
                  <a:srgbClr val="1B2A4A"/>
                </a:solidFill>
                <a:latin typeface="Calibri"/>
              </a:rPr>
              <a:t>The lesson</a:t>
            </a:r>
          </a:p>
          <a:p>
            <a:pPr algn="l">
              <a:spcAft>
                <a:spcPts val="0"/>
              </a:spcAft>
            </a:pPr>
            <a:r>
              <a:rPr sz="1600" b="0" dirty="0">
                <a:solidFill>
                  <a:srgbClr val="1F2422"/>
                </a:solidFill>
                <a:latin typeface="Calibri"/>
              </a:rPr>
              <a:t>My father taught me: when something is confusing, explain it to others. That struggle became </a:t>
            </a:r>
            <a:r>
              <a:rPr sz="1600" b="0" dirty="0" err="1">
                <a:solidFill>
                  <a:srgbClr val="1F2422"/>
                </a:solidFill>
                <a:latin typeface="Calibri"/>
              </a:rPr>
              <a:t>SchoolLens</a:t>
            </a:r>
            <a:r>
              <a:rPr sz="1600" b="0" dirty="0">
                <a:solidFill>
                  <a:srgbClr val="1F2422"/>
                </a:solidFill>
                <a:latin typeface="Calibri"/>
              </a:rPr>
              <a:t>.</a:t>
            </a:r>
          </a:p>
        </p:txBody>
      </p:sp>
      <p:sp>
        <p:nvSpPr>
          <p:cNvPr id="7" name="Rounded Rectangle 6"/>
          <p:cNvSpPr/>
          <p:nvPr/>
        </p:nvSpPr>
        <p:spPr>
          <a:xfrm>
            <a:off x="6172200" y="1280160"/>
            <a:ext cx="5532120" cy="4937760"/>
          </a:xfrm>
          <a:prstGeom prst="roundRect">
            <a:avLst>
              <a:gd name="adj" fmla="val 8000"/>
            </a:avLst>
          </a:prstGeom>
          <a:solidFill>
            <a:srgbClr val="FFF8F6"/>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463040"/>
            <a:ext cx="5074920" cy="2477601"/>
          </a:xfrm>
          <a:prstGeom prst="rect">
            <a:avLst/>
          </a:prstGeom>
          <a:noFill/>
        </p:spPr>
        <p:txBody>
          <a:bodyPr wrap="square">
            <a:spAutoFit/>
          </a:bodyPr>
          <a:lstStyle/>
          <a:p>
            <a:pPr algn="l">
              <a:spcAft>
                <a:spcPts val="800"/>
              </a:spcAft>
            </a:pPr>
            <a:r>
              <a:rPr sz="1600" b="1" dirty="0">
                <a:solidFill>
                  <a:srgbClr val="A94A3D"/>
                </a:solidFill>
                <a:latin typeface="Calibri"/>
              </a:rPr>
              <a:t>What families actually search</a:t>
            </a:r>
          </a:p>
          <a:p>
            <a:pPr algn="l">
              <a:spcAft>
                <a:spcPts val="600"/>
              </a:spcAft>
            </a:pPr>
            <a:r>
              <a:rPr sz="1800" b="1" dirty="0">
                <a:solidFill>
                  <a:srgbClr val="1B2A4A"/>
                </a:solidFill>
                <a:latin typeface="Calibri"/>
              </a:rPr>
              <a:t>Random Facebook comment threads</a:t>
            </a:r>
          </a:p>
          <a:p>
            <a:pPr algn="l">
              <a:spcAft>
                <a:spcPts val="600"/>
              </a:spcAft>
            </a:pPr>
            <a:r>
              <a:rPr sz="1800" b="1" dirty="0">
                <a:solidFill>
                  <a:srgbClr val="1B2A4A"/>
                </a:solidFill>
                <a:latin typeface="Calibri"/>
              </a:rPr>
              <a:t>Blurry Viber flyers and old PDFs</a:t>
            </a:r>
          </a:p>
          <a:p>
            <a:pPr algn="l">
              <a:spcAft>
                <a:spcPts val="600"/>
              </a:spcAft>
            </a:pPr>
            <a:r>
              <a:rPr sz="1800" b="1" dirty="0">
                <a:solidFill>
                  <a:srgbClr val="1B2A4A"/>
                </a:solidFill>
                <a:latin typeface="Calibri"/>
              </a:rPr>
              <a:t>Contradictory fee numbers</a:t>
            </a:r>
          </a:p>
          <a:p>
            <a:pPr algn="l">
              <a:spcAft>
                <a:spcPts val="1600"/>
              </a:spcAft>
            </a:pPr>
            <a:r>
              <a:rPr sz="1800" b="1" dirty="0">
                <a:solidFill>
                  <a:srgbClr val="1B2A4A"/>
                </a:solidFill>
                <a:latin typeface="Calibri"/>
              </a:rPr>
              <a:t>Abandoned school websites</a:t>
            </a:r>
          </a:p>
          <a:p>
            <a:pPr algn="l">
              <a:spcAft>
                <a:spcPts val="0"/>
              </a:spcAft>
            </a:pPr>
            <a:r>
              <a:rPr sz="1600" b="0" dirty="0">
                <a:solidFill>
                  <a:srgbClr val="1F2422"/>
                </a:solidFill>
                <a:latin typeface="Calibri"/>
              </a:rPr>
              <a:t>No single source was complete. No source was clearly dated. None showed when they disagreed.</a:t>
            </a:r>
          </a:p>
        </p:txBody>
      </p:sp>
      <p:sp>
        <p:nvSpPr>
          <p:cNvPr id="9" name="TextBox 8"/>
          <p:cNvSpPr txBox="1"/>
          <p:nvPr/>
        </p:nvSpPr>
        <p:spPr>
          <a:xfrm>
            <a:off x="457200" y="6510528"/>
            <a:ext cx="9144000" cy="256032"/>
          </a:xfrm>
          <a:prstGeom prst="rect">
            <a:avLst/>
          </a:prstGeom>
          <a:noFill/>
        </p:spPr>
        <p:txBody>
          <a:bodyPr wrap="square">
            <a:spAutoFit/>
          </a:bodyPr>
          <a:lstStyle/>
          <a:p>
            <a:pPr algn="l"/>
            <a:r>
              <a:rPr sz="1100" b="0">
                <a:solidFill>
                  <a:srgbClr val="B8C0C8"/>
                </a:solidFill>
                <a:latin typeface="Calibri"/>
              </a:rPr>
              <a:t>SchoolLens  ·  STI College AI Youth Competition 2026</a:t>
            </a:r>
          </a:p>
        </p:txBody>
      </p:sp>
      <p:sp>
        <p:nvSpPr>
          <p:cNvPr id="10" name="TextBox 9"/>
          <p:cNvSpPr txBox="1"/>
          <p:nvPr/>
        </p:nvSpPr>
        <p:spPr>
          <a:xfrm>
            <a:off x="10424160" y="6510528"/>
            <a:ext cx="1280160" cy="256032"/>
          </a:xfrm>
          <a:prstGeom prst="rect">
            <a:avLst/>
          </a:prstGeom>
          <a:noFill/>
        </p:spPr>
        <p:txBody>
          <a:bodyPr wrap="square">
            <a:spAutoFit/>
          </a:bodyPr>
          <a:lstStyle/>
          <a:p>
            <a:pPr algn="r"/>
            <a:r>
              <a:rPr sz="1100" b="0">
                <a:solidFill>
                  <a:srgbClr val="B8C0C8"/>
                </a:solidFill>
                <a:latin typeface="Calibri"/>
              </a:rPr>
              <a:t>2  /  16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307777"/>
          </a:xfrm>
          <a:prstGeom prst="rect">
            <a:avLst/>
          </a:prstGeom>
          <a:noFill/>
        </p:spPr>
        <p:txBody>
          <a:bodyPr wrap="square">
            <a:spAutoFit/>
          </a:bodyPr>
          <a:lstStyle/>
          <a:p>
            <a:pPr algn="l"/>
            <a:r>
              <a:rPr sz="1400" b="1" dirty="0">
                <a:solidFill>
                  <a:srgbClr val="2F6F62"/>
                </a:solidFill>
                <a:latin typeface="Calibri"/>
              </a:rPr>
              <a:t>The evidence crisis</a:t>
            </a:r>
          </a:p>
        </p:txBody>
      </p:sp>
      <p:sp>
        <p:nvSpPr>
          <p:cNvPr id="4" name="TextBox 3"/>
          <p:cNvSpPr txBox="1"/>
          <p:nvPr/>
        </p:nvSpPr>
        <p:spPr>
          <a:xfrm>
            <a:off x="502920" y="475488"/>
            <a:ext cx="11155680" cy="640080"/>
          </a:xfrm>
          <a:prstGeom prst="rect">
            <a:avLst/>
          </a:prstGeom>
          <a:noFill/>
        </p:spPr>
        <p:txBody>
          <a:bodyPr wrap="square">
            <a:spAutoFit/>
          </a:bodyPr>
          <a:lstStyle/>
          <a:p>
            <a:pPr algn="l"/>
            <a:r>
              <a:rPr sz="2800" b="1">
                <a:solidFill>
                  <a:srgbClr val="1B2A4A"/>
                </a:solidFill>
                <a:latin typeface="Calibri"/>
              </a:rPr>
              <a:t>Myanmar parents lack evidence, not advertisements</a:t>
            </a:r>
          </a:p>
        </p:txBody>
      </p:sp>
      <p:sp>
        <p:nvSpPr>
          <p:cNvPr id="5" name="Rounded Rectangle 4"/>
          <p:cNvSpPr/>
          <p:nvPr/>
        </p:nvSpPr>
        <p:spPr>
          <a:xfrm>
            <a:off x="457200" y="1280160"/>
            <a:ext cx="3611880" cy="233172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57200" y="1280160"/>
            <a:ext cx="109728" cy="233172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463040"/>
            <a:ext cx="3108960" cy="822960"/>
          </a:xfrm>
          <a:prstGeom prst="rect">
            <a:avLst/>
          </a:prstGeom>
          <a:noFill/>
        </p:spPr>
        <p:txBody>
          <a:bodyPr wrap="square">
            <a:spAutoFit/>
          </a:bodyPr>
          <a:lstStyle/>
          <a:p>
            <a:pPr algn="l"/>
            <a:r>
              <a:rPr sz="4000" b="1">
                <a:solidFill>
                  <a:srgbClr val="1B2A4A"/>
                </a:solidFill>
                <a:latin typeface="Calibri"/>
              </a:rPr>
              <a:t>252+</a:t>
            </a:r>
          </a:p>
        </p:txBody>
      </p:sp>
      <p:sp>
        <p:nvSpPr>
          <p:cNvPr id="8" name="TextBox 7"/>
          <p:cNvSpPr txBox="1"/>
          <p:nvPr/>
        </p:nvSpPr>
        <p:spPr>
          <a:xfrm>
            <a:off x="777240" y="2331720"/>
            <a:ext cx="3108960" cy="1005840"/>
          </a:xfrm>
          <a:prstGeom prst="rect">
            <a:avLst/>
          </a:prstGeom>
          <a:noFill/>
        </p:spPr>
        <p:txBody>
          <a:bodyPr wrap="square">
            <a:spAutoFit/>
          </a:bodyPr>
          <a:lstStyle/>
          <a:p>
            <a:pPr algn="l"/>
            <a:r>
              <a:rPr sz="1600" b="0">
                <a:solidFill>
                  <a:srgbClr val="1F2422"/>
                </a:solidFill>
                <a:latin typeface="Calibri"/>
              </a:rPr>
              <a:t>Registered private &amp;</a:t>
            </a:r>
          </a:p>
          <a:p>
            <a:pPr algn="l"/>
            <a:r>
              <a:rPr sz="1600" b="0">
                <a:solidFill>
                  <a:srgbClr val="1F2422"/>
                </a:solidFill>
                <a:latin typeface="Calibri"/>
              </a:rPr>
              <a:t>international schools</a:t>
            </a:r>
          </a:p>
        </p:txBody>
      </p:sp>
      <p:sp>
        <p:nvSpPr>
          <p:cNvPr id="9" name="Rounded Rectangle 8"/>
          <p:cNvSpPr/>
          <p:nvPr/>
        </p:nvSpPr>
        <p:spPr>
          <a:xfrm>
            <a:off x="4297680" y="1280160"/>
            <a:ext cx="3611880" cy="233172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297680" y="1280160"/>
            <a:ext cx="109728" cy="2331720"/>
          </a:xfrm>
          <a:prstGeom prst="rect">
            <a:avLst/>
          </a:prstGeom>
          <a:solidFill>
            <a:srgbClr val="A94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17720" y="1463040"/>
            <a:ext cx="3108960" cy="822960"/>
          </a:xfrm>
          <a:prstGeom prst="rect">
            <a:avLst/>
          </a:prstGeom>
          <a:noFill/>
        </p:spPr>
        <p:txBody>
          <a:bodyPr wrap="square">
            <a:spAutoFit/>
          </a:bodyPr>
          <a:lstStyle/>
          <a:p>
            <a:pPr algn="l"/>
            <a:r>
              <a:rPr sz="4000" b="1">
                <a:solidFill>
                  <a:srgbClr val="A94A3D"/>
                </a:solidFill>
                <a:latin typeface="Calibri"/>
              </a:rPr>
              <a:t>&gt;80%</a:t>
            </a:r>
          </a:p>
        </p:txBody>
      </p:sp>
      <p:sp>
        <p:nvSpPr>
          <p:cNvPr id="12" name="TextBox 11"/>
          <p:cNvSpPr txBox="1"/>
          <p:nvPr/>
        </p:nvSpPr>
        <p:spPr>
          <a:xfrm>
            <a:off x="4617720" y="2331720"/>
            <a:ext cx="3108960" cy="1005840"/>
          </a:xfrm>
          <a:prstGeom prst="rect">
            <a:avLst/>
          </a:prstGeom>
          <a:noFill/>
        </p:spPr>
        <p:txBody>
          <a:bodyPr wrap="square">
            <a:spAutoFit/>
          </a:bodyPr>
          <a:lstStyle/>
          <a:p>
            <a:pPr algn="l"/>
            <a:r>
              <a:rPr sz="1600" b="0">
                <a:solidFill>
                  <a:srgbClr val="1F2422"/>
                </a:solidFill>
                <a:latin typeface="Calibri"/>
              </a:rPr>
              <a:t>Live updates locked in</a:t>
            </a:r>
          </a:p>
          <a:p>
            <a:pPr algn="l"/>
            <a:r>
              <a:rPr sz="1600" b="0">
                <a:solidFill>
                  <a:srgbClr val="1F2422"/>
                </a:solidFill>
                <a:latin typeface="Calibri"/>
              </a:rPr>
              <a:t>unstructured Facebook posts</a:t>
            </a:r>
          </a:p>
        </p:txBody>
      </p:sp>
      <p:sp>
        <p:nvSpPr>
          <p:cNvPr id="13" name="Rounded Rectangle 12"/>
          <p:cNvSpPr/>
          <p:nvPr/>
        </p:nvSpPr>
        <p:spPr>
          <a:xfrm>
            <a:off x="8138160" y="1280160"/>
            <a:ext cx="3611880" cy="233172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38160" y="1280160"/>
            <a:ext cx="109728" cy="2331720"/>
          </a:xfrm>
          <a:prstGeom prst="rect">
            <a:avLst/>
          </a:prstGeom>
          <a:solidFill>
            <a:srgbClr val="C99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58200" y="1463040"/>
            <a:ext cx="3108960" cy="822960"/>
          </a:xfrm>
          <a:prstGeom prst="rect">
            <a:avLst/>
          </a:prstGeom>
          <a:noFill/>
        </p:spPr>
        <p:txBody>
          <a:bodyPr wrap="square">
            <a:spAutoFit/>
          </a:bodyPr>
          <a:lstStyle/>
          <a:p>
            <a:pPr algn="l"/>
            <a:r>
              <a:rPr sz="4000" b="1">
                <a:solidFill>
                  <a:srgbClr val="C99A3E"/>
                </a:solidFill>
                <a:latin typeface="Calibri"/>
              </a:rPr>
              <a:t>0</a:t>
            </a:r>
          </a:p>
        </p:txBody>
      </p:sp>
      <p:sp>
        <p:nvSpPr>
          <p:cNvPr id="16" name="TextBox 15"/>
          <p:cNvSpPr txBox="1"/>
          <p:nvPr/>
        </p:nvSpPr>
        <p:spPr>
          <a:xfrm>
            <a:off x="8458200" y="2331720"/>
            <a:ext cx="3108960" cy="1005840"/>
          </a:xfrm>
          <a:prstGeom prst="rect">
            <a:avLst/>
          </a:prstGeom>
          <a:noFill/>
        </p:spPr>
        <p:txBody>
          <a:bodyPr wrap="square">
            <a:spAutoFit/>
          </a:bodyPr>
          <a:lstStyle/>
          <a:p>
            <a:pPr algn="l"/>
            <a:r>
              <a:rPr sz="1600" b="0">
                <a:solidFill>
                  <a:srgbClr val="1F2422"/>
                </a:solidFill>
                <a:latin typeface="Calibri"/>
              </a:rPr>
              <a:t>Citation-backed, public</a:t>
            </a:r>
          </a:p>
          <a:p>
            <a:pPr algn="l"/>
            <a:r>
              <a:rPr sz="1600" b="0">
                <a:solidFill>
                  <a:srgbClr val="1F2422"/>
                </a:solidFill>
                <a:latin typeface="Calibri"/>
              </a:rPr>
              <a:t>verification platforms</a:t>
            </a:r>
          </a:p>
        </p:txBody>
      </p:sp>
      <p:sp>
        <p:nvSpPr>
          <p:cNvPr id="17" name="Rounded Rectangle 16"/>
          <p:cNvSpPr/>
          <p:nvPr/>
        </p:nvSpPr>
        <p:spPr>
          <a:xfrm>
            <a:off x="457200" y="3794760"/>
            <a:ext cx="11247120" cy="233172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3977639"/>
            <a:ext cx="10789920" cy="1302921"/>
          </a:xfrm>
          <a:prstGeom prst="rect">
            <a:avLst/>
          </a:prstGeom>
          <a:noFill/>
        </p:spPr>
        <p:txBody>
          <a:bodyPr wrap="square">
            <a:spAutoFit/>
          </a:bodyPr>
          <a:lstStyle/>
          <a:p>
            <a:pPr algn="l">
              <a:spcAft>
                <a:spcPts val="600"/>
              </a:spcAft>
            </a:pPr>
            <a:r>
              <a:rPr sz="1600" b="1" dirty="0">
                <a:solidFill>
                  <a:srgbClr val="A94A3D"/>
                </a:solidFill>
                <a:latin typeface="Calibri"/>
              </a:rPr>
              <a:t>Why 5-star ratings fail families</a:t>
            </a:r>
          </a:p>
          <a:p>
            <a:pPr algn="l">
              <a:spcAft>
                <a:spcPts val="800"/>
              </a:spcAft>
            </a:pPr>
            <a:r>
              <a:rPr sz="1700" b="0" dirty="0">
                <a:solidFill>
                  <a:srgbClr val="1F2422"/>
                </a:solidFill>
                <a:latin typeface="Calibri"/>
              </a:rPr>
              <a:t>Websites sit abandoned for 3–4 years while 2026 fees live in Viber. Parent reviews are Burmese; accreditations are English. Bought stars hide whether the science lab exists or teachers leave mid-year.</a:t>
            </a:r>
          </a:p>
          <a:p>
            <a:pPr algn="l">
              <a:spcAft>
                <a:spcPts val="0"/>
              </a:spcAft>
            </a:pPr>
            <a:r>
              <a:rPr sz="1700" b="1" dirty="0">
                <a:solidFill>
                  <a:srgbClr val="1B2A4A"/>
                </a:solidFill>
                <a:latin typeface="Calibri"/>
              </a:rPr>
              <a:t>A rating is a verdict. </a:t>
            </a:r>
            <a:r>
              <a:rPr sz="1700" b="1" dirty="0" err="1">
                <a:solidFill>
                  <a:srgbClr val="1B2A4A"/>
                </a:solidFill>
                <a:latin typeface="Calibri"/>
              </a:rPr>
              <a:t>SchoolLens</a:t>
            </a:r>
            <a:r>
              <a:rPr sz="1700" b="1" dirty="0">
                <a:solidFill>
                  <a:srgbClr val="1B2A4A"/>
                </a:solidFill>
                <a:latin typeface="Calibri"/>
              </a:rPr>
              <a:t> is a ledger of what sources actually say.</a:t>
            </a:r>
          </a:p>
        </p:txBody>
      </p:sp>
      <p:sp>
        <p:nvSpPr>
          <p:cNvPr id="19" name="TextBox 18"/>
          <p:cNvSpPr txBox="1"/>
          <p:nvPr/>
        </p:nvSpPr>
        <p:spPr>
          <a:xfrm>
            <a:off x="457200" y="6510528"/>
            <a:ext cx="9144000" cy="256032"/>
          </a:xfrm>
          <a:prstGeom prst="rect">
            <a:avLst/>
          </a:prstGeom>
          <a:noFill/>
        </p:spPr>
        <p:txBody>
          <a:bodyPr wrap="square">
            <a:spAutoFit/>
          </a:bodyPr>
          <a:lstStyle/>
          <a:p>
            <a:pPr algn="l"/>
            <a:r>
              <a:rPr sz="1100" b="0">
                <a:solidFill>
                  <a:srgbClr val="B8C0C8"/>
                </a:solidFill>
                <a:latin typeface="Calibri"/>
              </a:rPr>
              <a:t>SchoolLens  ·  STI College AI Youth Competition 2026</a:t>
            </a:r>
          </a:p>
        </p:txBody>
      </p:sp>
      <p:sp>
        <p:nvSpPr>
          <p:cNvPr id="20" name="TextBox 19"/>
          <p:cNvSpPr txBox="1"/>
          <p:nvPr/>
        </p:nvSpPr>
        <p:spPr>
          <a:xfrm>
            <a:off x="10424160" y="6510528"/>
            <a:ext cx="1280160" cy="256032"/>
          </a:xfrm>
          <a:prstGeom prst="rect">
            <a:avLst/>
          </a:prstGeom>
          <a:noFill/>
        </p:spPr>
        <p:txBody>
          <a:bodyPr wrap="square">
            <a:spAutoFit/>
          </a:bodyPr>
          <a:lstStyle/>
          <a:p>
            <a:pPr algn="r"/>
            <a:r>
              <a:rPr sz="1100" b="0">
                <a:solidFill>
                  <a:srgbClr val="B8C0C8"/>
                </a:solidFill>
                <a:latin typeface="Calibri"/>
              </a:rPr>
              <a:t>3  /  16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307777"/>
          </a:xfrm>
          <a:prstGeom prst="rect">
            <a:avLst/>
          </a:prstGeom>
          <a:noFill/>
        </p:spPr>
        <p:txBody>
          <a:bodyPr wrap="square">
            <a:spAutoFit/>
          </a:bodyPr>
          <a:lstStyle/>
          <a:p>
            <a:pPr algn="l"/>
            <a:r>
              <a:rPr sz="1400" b="1" dirty="0">
                <a:solidFill>
                  <a:srgbClr val="2F6F62"/>
                </a:solidFill>
                <a:latin typeface="Calibri"/>
              </a:rPr>
              <a:t>The product</a:t>
            </a:r>
          </a:p>
        </p:txBody>
      </p:sp>
      <p:sp>
        <p:nvSpPr>
          <p:cNvPr id="4" name="TextBox 3"/>
          <p:cNvSpPr txBox="1"/>
          <p:nvPr/>
        </p:nvSpPr>
        <p:spPr>
          <a:xfrm>
            <a:off x="502920" y="475488"/>
            <a:ext cx="11155680" cy="640080"/>
          </a:xfrm>
          <a:prstGeom prst="rect">
            <a:avLst/>
          </a:prstGeom>
          <a:noFill/>
        </p:spPr>
        <p:txBody>
          <a:bodyPr wrap="square">
            <a:spAutoFit/>
          </a:bodyPr>
          <a:lstStyle/>
          <a:p>
            <a:pPr algn="l"/>
            <a:r>
              <a:rPr sz="2800" b="1">
                <a:solidFill>
                  <a:srgbClr val="1B2A4A"/>
                </a:solidFill>
                <a:latin typeface="Calibri"/>
              </a:rPr>
              <a:t>An objective evidence ledger — not a rating app</a:t>
            </a:r>
          </a:p>
        </p:txBody>
      </p:sp>
      <p:sp>
        <p:nvSpPr>
          <p:cNvPr id="5" name="TextBox 4"/>
          <p:cNvSpPr txBox="1"/>
          <p:nvPr/>
        </p:nvSpPr>
        <p:spPr>
          <a:xfrm>
            <a:off x="502920" y="1143000"/>
            <a:ext cx="11155680" cy="640080"/>
          </a:xfrm>
          <a:prstGeom prst="rect">
            <a:avLst/>
          </a:prstGeom>
          <a:noFill/>
        </p:spPr>
        <p:txBody>
          <a:bodyPr wrap="square">
            <a:spAutoFit/>
          </a:bodyPr>
          <a:lstStyle/>
          <a:p>
            <a:pPr algn="l"/>
            <a:r>
              <a:rPr sz="1600" b="0">
                <a:solidFill>
                  <a:srgbClr val="5B6461"/>
                </a:solidFill>
                <a:latin typeface="Calibri"/>
              </a:rPr>
              <a:t>AI crawls MOE registries, websites, and Facebook, extracts facts, checks agreement, and shows confidence. It never picks a “best” school.</a:t>
            </a:r>
          </a:p>
        </p:txBody>
      </p:sp>
      <p:sp>
        <p:nvSpPr>
          <p:cNvPr id="6" name="Rounded Rectangle 5"/>
          <p:cNvSpPr/>
          <p:nvPr/>
        </p:nvSpPr>
        <p:spPr>
          <a:xfrm>
            <a:off x="457200" y="1965960"/>
            <a:ext cx="2176272" cy="2148840"/>
          </a:xfrm>
          <a:prstGeom prst="roundRect">
            <a:avLst>
              <a:gd name="adj" fmla="val 8000"/>
            </a:avLst>
          </a:prstGeom>
          <a:solidFill>
            <a:srgbClr val="2F6F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2148840"/>
            <a:ext cx="1956816" cy="640080"/>
          </a:xfrm>
          <a:prstGeom prst="rect">
            <a:avLst/>
          </a:prstGeom>
          <a:noFill/>
        </p:spPr>
        <p:txBody>
          <a:bodyPr wrap="square">
            <a:spAutoFit/>
          </a:bodyPr>
          <a:lstStyle/>
          <a:p>
            <a:pPr algn="ctr"/>
            <a:r>
              <a:rPr sz="1600" b="1">
                <a:solidFill>
                  <a:srgbClr val="FFFFFF"/>
                </a:solidFill>
                <a:latin typeface="Calibri"/>
              </a:rPr>
              <a:t>Supported</a:t>
            </a:r>
          </a:p>
        </p:txBody>
      </p:sp>
      <p:sp>
        <p:nvSpPr>
          <p:cNvPr id="8" name="TextBox 7"/>
          <p:cNvSpPr txBox="1"/>
          <p:nvPr/>
        </p:nvSpPr>
        <p:spPr>
          <a:xfrm>
            <a:off x="566928" y="2788920"/>
            <a:ext cx="1956816" cy="1097280"/>
          </a:xfrm>
          <a:prstGeom prst="rect">
            <a:avLst/>
          </a:prstGeom>
          <a:noFill/>
        </p:spPr>
        <p:txBody>
          <a:bodyPr wrap="square">
            <a:spAutoFit/>
          </a:bodyPr>
          <a:lstStyle/>
          <a:p>
            <a:pPr algn="ctr"/>
            <a:r>
              <a:rPr sz="1300" b="0">
                <a:solidFill>
                  <a:srgbClr val="FFFFFF"/>
                </a:solidFill>
                <a:latin typeface="Calibri"/>
              </a:rPr>
              <a:t>Independent sources agree</a:t>
            </a:r>
          </a:p>
        </p:txBody>
      </p:sp>
      <p:sp>
        <p:nvSpPr>
          <p:cNvPr id="9" name="Rounded Rectangle 8"/>
          <p:cNvSpPr/>
          <p:nvPr/>
        </p:nvSpPr>
        <p:spPr>
          <a:xfrm>
            <a:off x="2761488" y="1965960"/>
            <a:ext cx="2176272" cy="2148840"/>
          </a:xfrm>
          <a:prstGeom prst="roundRect">
            <a:avLst>
              <a:gd name="adj" fmla="val 8000"/>
            </a:avLst>
          </a:prstGeom>
          <a:solidFill>
            <a:srgbClr val="1A7A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871216" y="2148840"/>
            <a:ext cx="1956816" cy="640080"/>
          </a:xfrm>
          <a:prstGeom prst="rect">
            <a:avLst/>
          </a:prstGeom>
          <a:noFill/>
        </p:spPr>
        <p:txBody>
          <a:bodyPr wrap="square">
            <a:spAutoFit/>
          </a:bodyPr>
          <a:lstStyle/>
          <a:p>
            <a:pPr algn="ctr"/>
            <a:r>
              <a:rPr sz="1600" b="1">
                <a:solidFill>
                  <a:srgbClr val="FFFFFF"/>
                </a:solidFill>
                <a:latin typeface="Calibri"/>
              </a:rPr>
              <a:t>Likely</a:t>
            </a:r>
          </a:p>
        </p:txBody>
      </p:sp>
      <p:sp>
        <p:nvSpPr>
          <p:cNvPr id="11" name="TextBox 10"/>
          <p:cNvSpPr txBox="1"/>
          <p:nvPr/>
        </p:nvSpPr>
        <p:spPr>
          <a:xfrm>
            <a:off x="2871216" y="2788920"/>
            <a:ext cx="1956816" cy="1097280"/>
          </a:xfrm>
          <a:prstGeom prst="rect">
            <a:avLst/>
          </a:prstGeom>
          <a:noFill/>
        </p:spPr>
        <p:txBody>
          <a:bodyPr wrap="square">
            <a:spAutoFit/>
          </a:bodyPr>
          <a:lstStyle/>
          <a:p>
            <a:pPr algn="ctr"/>
            <a:r>
              <a:rPr sz="1300" b="0">
                <a:solidFill>
                  <a:srgbClr val="FFFFFF"/>
                </a:solidFill>
                <a:latin typeface="Calibri"/>
              </a:rPr>
              <a:t>Support, not fully corroborated</a:t>
            </a:r>
          </a:p>
        </p:txBody>
      </p:sp>
      <p:sp>
        <p:nvSpPr>
          <p:cNvPr id="12" name="Rounded Rectangle 11"/>
          <p:cNvSpPr/>
          <p:nvPr/>
        </p:nvSpPr>
        <p:spPr>
          <a:xfrm>
            <a:off x="5065776" y="1965960"/>
            <a:ext cx="2176272" cy="2148840"/>
          </a:xfrm>
          <a:prstGeom prst="roundRect">
            <a:avLst>
              <a:gd name="adj" fmla="val 8000"/>
            </a:avLst>
          </a:prstGeom>
          <a:solidFill>
            <a:srgbClr val="A94A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175504" y="2148840"/>
            <a:ext cx="1956816" cy="640080"/>
          </a:xfrm>
          <a:prstGeom prst="rect">
            <a:avLst/>
          </a:prstGeom>
          <a:noFill/>
        </p:spPr>
        <p:txBody>
          <a:bodyPr wrap="square">
            <a:spAutoFit/>
          </a:bodyPr>
          <a:lstStyle/>
          <a:p>
            <a:pPr algn="ctr"/>
            <a:r>
              <a:rPr sz="1600" b="1">
                <a:solidFill>
                  <a:srgbClr val="FFFFFF"/>
                </a:solidFill>
                <a:latin typeface="Calibri"/>
              </a:rPr>
              <a:t>Conflicting</a:t>
            </a:r>
          </a:p>
        </p:txBody>
      </p:sp>
      <p:sp>
        <p:nvSpPr>
          <p:cNvPr id="14" name="TextBox 13"/>
          <p:cNvSpPr txBox="1"/>
          <p:nvPr/>
        </p:nvSpPr>
        <p:spPr>
          <a:xfrm>
            <a:off x="5175504" y="2788920"/>
            <a:ext cx="1956816" cy="1097280"/>
          </a:xfrm>
          <a:prstGeom prst="rect">
            <a:avLst/>
          </a:prstGeom>
          <a:noFill/>
        </p:spPr>
        <p:txBody>
          <a:bodyPr wrap="square">
            <a:spAutoFit/>
          </a:bodyPr>
          <a:lstStyle/>
          <a:p>
            <a:pPr algn="ctr"/>
            <a:r>
              <a:rPr sz="1300" b="0">
                <a:solidFill>
                  <a:srgbClr val="FFFFFF"/>
                </a:solidFill>
                <a:latin typeface="Calibri"/>
              </a:rPr>
              <a:t>Sources disagree — inspect both</a:t>
            </a:r>
          </a:p>
        </p:txBody>
      </p:sp>
      <p:sp>
        <p:nvSpPr>
          <p:cNvPr id="15" name="Rounded Rectangle 14"/>
          <p:cNvSpPr/>
          <p:nvPr/>
        </p:nvSpPr>
        <p:spPr>
          <a:xfrm>
            <a:off x="7370064" y="1965960"/>
            <a:ext cx="2176272" cy="2148840"/>
          </a:xfrm>
          <a:prstGeom prst="roundRect">
            <a:avLst>
              <a:gd name="adj" fmla="val 8000"/>
            </a:avLst>
          </a:prstGeom>
          <a:solidFill>
            <a:srgbClr val="C99A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79792" y="2148840"/>
            <a:ext cx="1956816" cy="640080"/>
          </a:xfrm>
          <a:prstGeom prst="rect">
            <a:avLst/>
          </a:prstGeom>
          <a:noFill/>
        </p:spPr>
        <p:txBody>
          <a:bodyPr wrap="square">
            <a:spAutoFit/>
          </a:bodyPr>
          <a:lstStyle/>
          <a:p>
            <a:pPr algn="ctr"/>
            <a:r>
              <a:rPr sz="1600" b="1">
                <a:solidFill>
                  <a:srgbClr val="1B2A4A"/>
                </a:solidFill>
                <a:latin typeface="Calibri"/>
              </a:rPr>
              <a:t>Outdated</a:t>
            </a:r>
          </a:p>
        </p:txBody>
      </p:sp>
      <p:sp>
        <p:nvSpPr>
          <p:cNvPr id="17" name="TextBox 16"/>
          <p:cNvSpPr txBox="1"/>
          <p:nvPr/>
        </p:nvSpPr>
        <p:spPr>
          <a:xfrm>
            <a:off x="7479792" y="2788920"/>
            <a:ext cx="1956816" cy="1097280"/>
          </a:xfrm>
          <a:prstGeom prst="rect">
            <a:avLst/>
          </a:prstGeom>
          <a:noFill/>
        </p:spPr>
        <p:txBody>
          <a:bodyPr wrap="square">
            <a:spAutoFit/>
          </a:bodyPr>
          <a:lstStyle/>
          <a:p>
            <a:pPr algn="ctr"/>
            <a:r>
              <a:rPr sz="1300" b="0">
                <a:solidFill>
                  <a:srgbClr val="1B2A4A"/>
                </a:solidFill>
                <a:latin typeface="Calibri"/>
              </a:rPr>
              <a:t>Newer evidence superseded this</a:t>
            </a:r>
          </a:p>
        </p:txBody>
      </p:sp>
      <p:sp>
        <p:nvSpPr>
          <p:cNvPr id="18" name="Rounded Rectangle 17"/>
          <p:cNvSpPr/>
          <p:nvPr/>
        </p:nvSpPr>
        <p:spPr>
          <a:xfrm>
            <a:off x="9674352" y="1965960"/>
            <a:ext cx="2176272" cy="2148840"/>
          </a:xfrm>
          <a:prstGeom prst="roundRect">
            <a:avLst>
              <a:gd name="adj" fmla="val 8000"/>
            </a:avLst>
          </a:prstGeom>
          <a:solidFill>
            <a:srgbClr val="6B72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84080" y="2148840"/>
            <a:ext cx="1956816" cy="640080"/>
          </a:xfrm>
          <a:prstGeom prst="rect">
            <a:avLst/>
          </a:prstGeom>
          <a:noFill/>
        </p:spPr>
        <p:txBody>
          <a:bodyPr wrap="square">
            <a:spAutoFit/>
          </a:bodyPr>
          <a:lstStyle/>
          <a:p>
            <a:pPr algn="ctr"/>
            <a:r>
              <a:rPr sz="1600" b="1">
                <a:solidFill>
                  <a:srgbClr val="FFFFFF"/>
                </a:solidFill>
                <a:latin typeface="Calibri"/>
              </a:rPr>
              <a:t>Unknown</a:t>
            </a:r>
          </a:p>
        </p:txBody>
      </p:sp>
      <p:sp>
        <p:nvSpPr>
          <p:cNvPr id="20" name="TextBox 19"/>
          <p:cNvSpPr txBox="1"/>
          <p:nvPr/>
        </p:nvSpPr>
        <p:spPr>
          <a:xfrm>
            <a:off x="9784080" y="2788920"/>
            <a:ext cx="1956816" cy="1097280"/>
          </a:xfrm>
          <a:prstGeom prst="rect">
            <a:avLst/>
          </a:prstGeom>
          <a:noFill/>
        </p:spPr>
        <p:txBody>
          <a:bodyPr wrap="square">
            <a:spAutoFit/>
          </a:bodyPr>
          <a:lstStyle/>
          <a:p>
            <a:pPr algn="ctr"/>
            <a:r>
              <a:rPr sz="1300" b="0">
                <a:solidFill>
                  <a:srgbClr val="FFFFFF"/>
                </a:solidFill>
                <a:latin typeface="Calibri"/>
              </a:rPr>
              <a:t>Not enough to say</a:t>
            </a:r>
          </a:p>
        </p:txBody>
      </p:sp>
      <p:sp>
        <p:nvSpPr>
          <p:cNvPr id="21" name="Rounded Rectangle 20"/>
          <p:cNvSpPr/>
          <p:nvPr/>
        </p:nvSpPr>
        <p:spPr>
          <a:xfrm>
            <a:off x="457200" y="4297680"/>
            <a:ext cx="11247120" cy="182880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85800" y="4480560"/>
            <a:ext cx="10789920" cy="1554480"/>
          </a:xfrm>
          <a:prstGeom prst="rect">
            <a:avLst/>
          </a:prstGeom>
          <a:noFill/>
        </p:spPr>
        <p:txBody>
          <a:bodyPr wrap="square">
            <a:spAutoFit/>
          </a:bodyPr>
          <a:lstStyle/>
          <a:p>
            <a:pPr algn="l">
              <a:spcAft>
                <a:spcPts val="800"/>
              </a:spcAft>
            </a:pPr>
            <a:r>
              <a:rPr sz="1800" b="0">
                <a:solidFill>
                  <a:srgbClr val="1F2422"/>
                </a:solidFill>
                <a:latin typeface="Calibri"/>
              </a:rPr>
              <a:t>If a website fee contradicts a Facebook announcement, SchoolLens shows both quotes side by side.</a:t>
            </a:r>
          </a:p>
          <a:p>
            <a:pPr algn="l">
              <a:spcAft>
                <a:spcPts val="0"/>
              </a:spcAft>
            </a:pPr>
            <a:r>
              <a:rPr sz="1800" b="1">
                <a:solidFill>
                  <a:srgbClr val="1B2A4A"/>
                </a:solidFill>
                <a:latin typeface="Calibri"/>
              </a:rPr>
              <a:t>If there is no evidence, it says Unknown. 100% transparency — zero fake certainty.</a:t>
            </a:r>
          </a:p>
        </p:txBody>
      </p:sp>
      <p:sp>
        <p:nvSpPr>
          <p:cNvPr id="23" name="TextBox 22"/>
          <p:cNvSpPr txBox="1"/>
          <p:nvPr/>
        </p:nvSpPr>
        <p:spPr>
          <a:xfrm>
            <a:off x="457200" y="6510528"/>
            <a:ext cx="9144000" cy="256032"/>
          </a:xfrm>
          <a:prstGeom prst="rect">
            <a:avLst/>
          </a:prstGeom>
          <a:noFill/>
        </p:spPr>
        <p:txBody>
          <a:bodyPr wrap="square">
            <a:spAutoFit/>
          </a:bodyPr>
          <a:lstStyle/>
          <a:p>
            <a:pPr algn="l"/>
            <a:r>
              <a:rPr sz="1100" b="0">
                <a:solidFill>
                  <a:srgbClr val="B8C0C8"/>
                </a:solidFill>
                <a:latin typeface="Calibri"/>
              </a:rPr>
              <a:t>SchoolLens  ·  STI College AI Youth Competition 2026</a:t>
            </a:r>
          </a:p>
        </p:txBody>
      </p:sp>
      <p:sp>
        <p:nvSpPr>
          <p:cNvPr id="24" name="TextBox 23"/>
          <p:cNvSpPr txBox="1"/>
          <p:nvPr/>
        </p:nvSpPr>
        <p:spPr>
          <a:xfrm>
            <a:off x="10424160" y="6510528"/>
            <a:ext cx="1280160" cy="256032"/>
          </a:xfrm>
          <a:prstGeom prst="rect">
            <a:avLst/>
          </a:prstGeom>
          <a:noFill/>
        </p:spPr>
        <p:txBody>
          <a:bodyPr wrap="square">
            <a:spAutoFit/>
          </a:bodyPr>
          <a:lstStyle/>
          <a:p>
            <a:pPr algn="r"/>
            <a:r>
              <a:rPr sz="1100" b="0">
                <a:solidFill>
                  <a:srgbClr val="B8C0C8"/>
                </a:solidFill>
                <a:latin typeface="Calibri"/>
              </a:rPr>
              <a:t>4  /  16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307777"/>
          </a:xfrm>
          <a:prstGeom prst="rect">
            <a:avLst/>
          </a:prstGeom>
          <a:noFill/>
        </p:spPr>
        <p:txBody>
          <a:bodyPr wrap="square">
            <a:spAutoFit/>
          </a:bodyPr>
          <a:lstStyle/>
          <a:p>
            <a:pPr algn="l"/>
            <a:r>
              <a:rPr sz="1400" b="1" dirty="0">
                <a:solidFill>
                  <a:srgbClr val="2F6F62"/>
                </a:solidFill>
                <a:latin typeface="Calibri"/>
              </a:rPr>
              <a:t>System architecture</a:t>
            </a:r>
          </a:p>
        </p:txBody>
      </p:sp>
      <p:sp>
        <p:nvSpPr>
          <p:cNvPr id="4" name="TextBox 3"/>
          <p:cNvSpPr txBox="1"/>
          <p:nvPr/>
        </p:nvSpPr>
        <p:spPr>
          <a:xfrm>
            <a:off x="502920" y="475488"/>
            <a:ext cx="11155680" cy="640080"/>
          </a:xfrm>
          <a:prstGeom prst="rect">
            <a:avLst/>
          </a:prstGeom>
          <a:noFill/>
        </p:spPr>
        <p:txBody>
          <a:bodyPr wrap="square">
            <a:spAutoFit/>
          </a:bodyPr>
          <a:lstStyle/>
          <a:p>
            <a:pPr algn="l"/>
            <a:r>
              <a:rPr sz="2800" b="1">
                <a:solidFill>
                  <a:srgbClr val="1B2A4A"/>
                </a:solidFill>
                <a:latin typeface="Calibri"/>
              </a:rPr>
              <a:t>How SchoolLens is built</a:t>
            </a:r>
          </a:p>
        </p:txBody>
      </p:sp>
      <p:sp>
        <p:nvSpPr>
          <p:cNvPr id="5" name="Rounded Rectangle 4"/>
          <p:cNvSpPr/>
          <p:nvPr/>
        </p:nvSpPr>
        <p:spPr>
          <a:xfrm>
            <a:off x="457200" y="1170432"/>
            <a:ext cx="11247120" cy="114300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1280160"/>
            <a:ext cx="640080" cy="365760"/>
          </a:xfrm>
          <a:prstGeom prst="rect">
            <a:avLst/>
          </a:prstGeom>
          <a:noFill/>
        </p:spPr>
        <p:txBody>
          <a:bodyPr wrap="square">
            <a:spAutoFit/>
          </a:bodyPr>
          <a:lstStyle/>
          <a:p>
            <a:pPr algn="l"/>
            <a:r>
              <a:rPr sz="1600" b="1">
                <a:solidFill>
                  <a:srgbClr val="1A7A9C"/>
                </a:solidFill>
                <a:latin typeface="Calibri"/>
              </a:rPr>
              <a:t>01</a:t>
            </a:r>
          </a:p>
        </p:txBody>
      </p:sp>
      <p:sp>
        <p:nvSpPr>
          <p:cNvPr id="7" name="TextBox 6"/>
          <p:cNvSpPr txBox="1"/>
          <p:nvPr/>
        </p:nvSpPr>
        <p:spPr>
          <a:xfrm>
            <a:off x="1325880" y="1280160"/>
            <a:ext cx="10149840" cy="347472"/>
          </a:xfrm>
          <a:prstGeom prst="rect">
            <a:avLst/>
          </a:prstGeom>
          <a:noFill/>
        </p:spPr>
        <p:txBody>
          <a:bodyPr wrap="square">
            <a:spAutoFit/>
          </a:bodyPr>
          <a:lstStyle/>
          <a:p>
            <a:pPr algn="l"/>
            <a:r>
              <a:rPr sz="1800" b="1">
                <a:solidFill>
                  <a:srgbClr val="1B2A4A"/>
                </a:solidFill>
                <a:latin typeface="Calibri"/>
              </a:rPr>
              <a:t>Parent &amp; staff UI</a:t>
            </a:r>
          </a:p>
        </p:txBody>
      </p:sp>
      <p:sp>
        <p:nvSpPr>
          <p:cNvPr id="8" name="TextBox 7"/>
          <p:cNvSpPr txBox="1"/>
          <p:nvPr/>
        </p:nvSpPr>
        <p:spPr>
          <a:xfrm>
            <a:off x="1325880" y="1627632"/>
            <a:ext cx="10149840" cy="594360"/>
          </a:xfrm>
          <a:prstGeom prst="rect">
            <a:avLst/>
          </a:prstGeom>
          <a:noFill/>
        </p:spPr>
        <p:txBody>
          <a:bodyPr wrap="square">
            <a:spAutoFit/>
          </a:bodyPr>
          <a:lstStyle/>
          <a:p>
            <a:pPr algn="l"/>
            <a:r>
              <a:rPr sz="1400" b="0">
                <a:solidFill>
                  <a:srgbClr val="1F2422"/>
                </a:solidFill>
                <a:latin typeface="Calibri"/>
              </a:rPr>
              <a:t>Next.js 15 + React 19. English chrome, Noto Sans + Noto Sans Myanmar. Public browse with no login. Roles: parent, school admin, moderator, operator.</a:t>
            </a:r>
          </a:p>
        </p:txBody>
      </p:sp>
      <p:sp>
        <p:nvSpPr>
          <p:cNvPr id="9" name="Rounded Rectangle 8"/>
          <p:cNvSpPr/>
          <p:nvPr/>
        </p:nvSpPr>
        <p:spPr>
          <a:xfrm>
            <a:off x="457200" y="2404872"/>
            <a:ext cx="11247120" cy="114300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2514600"/>
            <a:ext cx="640080" cy="365760"/>
          </a:xfrm>
          <a:prstGeom prst="rect">
            <a:avLst/>
          </a:prstGeom>
          <a:noFill/>
        </p:spPr>
        <p:txBody>
          <a:bodyPr wrap="square">
            <a:spAutoFit/>
          </a:bodyPr>
          <a:lstStyle/>
          <a:p>
            <a:pPr algn="l"/>
            <a:r>
              <a:rPr sz="1600" b="1">
                <a:solidFill>
                  <a:srgbClr val="1A7A9C"/>
                </a:solidFill>
                <a:latin typeface="Calibri"/>
              </a:rPr>
              <a:t>02</a:t>
            </a:r>
          </a:p>
        </p:txBody>
      </p:sp>
      <p:sp>
        <p:nvSpPr>
          <p:cNvPr id="11" name="TextBox 10"/>
          <p:cNvSpPr txBox="1"/>
          <p:nvPr/>
        </p:nvSpPr>
        <p:spPr>
          <a:xfrm>
            <a:off x="1325880" y="2514600"/>
            <a:ext cx="10149840" cy="347472"/>
          </a:xfrm>
          <a:prstGeom prst="rect">
            <a:avLst/>
          </a:prstGeom>
          <a:noFill/>
        </p:spPr>
        <p:txBody>
          <a:bodyPr wrap="square">
            <a:spAutoFit/>
          </a:bodyPr>
          <a:lstStyle/>
          <a:p>
            <a:pPr algn="l"/>
            <a:r>
              <a:rPr sz="1800" b="1">
                <a:solidFill>
                  <a:srgbClr val="1B2A4A"/>
                </a:solidFill>
                <a:latin typeface="Calibri"/>
              </a:rPr>
              <a:t>API &amp; data plane</a:t>
            </a:r>
          </a:p>
        </p:txBody>
      </p:sp>
      <p:sp>
        <p:nvSpPr>
          <p:cNvPr id="12" name="TextBox 11"/>
          <p:cNvSpPr txBox="1"/>
          <p:nvPr/>
        </p:nvSpPr>
        <p:spPr>
          <a:xfrm>
            <a:off x="1325880" y="2862072"/>
            <a:ext cx="10149840" cy="594360"/>
          </a:xfrm>
          <a:prstGeom prst="rect">
            <a:avLst/>
          </a:prstGeom>
          <a:noFill/>
        </p:spPr>
        <p:txBody>
          <a:bodyPr wrap="square">
            <a:spAutoFit/>
          </a:bodyPr>
          <a:lstStyle/>
          <a:p>
            <a:pPr algn="l"/>
            <a:r>
              <a:rPr sz="1400" b="0">
                <a:solidFill>
                  <a:srgbClr val="1F2422"/>
                </a:solidFill>
                <a:latin typeface="Calibri"/>
              </a:rPr>
              <a:t>Supabase Postgres with Row Level Security, Auth, and pgvector. Canonical tables: schools, raw_sources, claims, evidence, claim_groups, school_summaries.</a:t>
            </a:r>
          </a:p>
        </p:txBody>
      </p:sp>
      <p:sp>
        <p:nvSpPr>
          <p:cNvPr id="13" name="Rounded Rectangle 12"/>
          <p:cNvSpPr/>
          <p:nvPr/>
        </p:nvSpPr>
        <p:spPr>
          <a:xfrm>
            <a:off x="457200" y="3639312"/>
            <a:ext cx="11247120" cy="114300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3749040"/>
            <a:ext cx="640080" cy="365760"/>
          </a:xfrm>
          <a:prstGeom prst="rect">
            <a:avLst/>
          </a:prstGeom>
          <a:noFill/>
        </p:spPr>
        <p:txBody>
          <a:bodyPr wrap="square">
            <a:spAutoFit/>
          </a:bodyPr>
          <a:lstStyle/>
          <a:p>
            <a:pPr algn="l"/>
            <a:r>
              <a:rPr sz="1600" b="1">
                <a:solidFill>
                  <a:srgbClr val="1A7A9C"/>
                </a:solidFill>
                <a:latin typeface="Calibri"/>
              </a:rPr>
              <a:t>03</a:t>
            </a:r>
          </a:p>
        </p:txBody>
      </p:sp>
      <p:sp>
        <p:nvSpPr>
          <p:cNvPr id="15" name="TextBox 14"/>
          <p:cNvSpPr txBox="1"/>
          <p:nvPr/>
        </p:nvSpPr>
        <p:spPr>
          <a:xfrm>
            <a:off x="1325880" y="3749040"/>
            <a:ext cx="10149840" cy="347472"/>
          </a:xfrm>
          <a:prstGeom prst="rect">
            <a:avLst/>
          </a:prstGeom>
          <a:noFill/>
        </p:spPr>
        <p:txBody>
          <a:bodyPr wrap="square">
            <a:spAutoFit/>
          </a:bodyPr>
          <a:lstStyle/>
          <a:p>
            <a:pPr algn="l"/>
            <a:r>
              <a:rPr sz="1800" b="1">
                <a:solidFill>
                  <a:srgbClr val="1B2A4A"/>
                </a:solidFill>
                <a:latin typeface="Calibri"/>
              </a:rPr>
              <a:t>Evidence Intelligence Engine</a:t>
            </a:r>
          </a:p>
        </p:txBody>
      </p:sp>
      <p:sp>
        <p:nvSpPr>
          <p:cNvPr id="16" name="TextBox 15"/>
          <p:cNvSpPr txBox="1"/>
          <p:nvPr/>
        </p:nvSpPr>
        <p:spPr>
          <a:xfrm>
            <a:off x="1325880" y="4096512"/>
            <a:ext cx="10149840" cy="594360"/>
          </a:xfrm>
          <a:prstGeom prst="rect">
            <a:avLst/>
          </a:prstGeom>
          <a:noFill/>
        </p:spPr>
        <p:txBody>
          <a:bodyPr wrap="square">
            <a:spAutoFit/>
          </a:bodyPr>
          <a:lstStyle/>
          <a:p>
            <a:pPr algn="l"/>
            <a:r>
              <a:rPr sz="1400" b="0">
                <a:solidFill>
                  <a:srgbClr val="1F2422"/>
                </a:solidFill>
                <a:latin typeface="Calibri"/>
              </a:rPr>
              <a:t>FastAPI RAG service. Website crawler + Facebook queue (Apify). Gemini extracts claims and writes summaries. Reconciliation groups matching facts and labels confidence. Grounded Ask cites claim groups only.</a:t>
            </a:r>
          </a:p>
        </p:txBody>
      </p:sp>
      <p:sp>
        <p:nvSpPr>
          <p:cNvPr id="17" name="Rounded Rectangle 16"/>
          <p:cNvSpPr/>
          <p:nvPr/>
        </p:nvSpPr>
        <p:spPr>
          <a:xfrm>
            <a:off x="457200" y="4873752"/>
            <a:ext cx="11247120" cy="114300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 y="4983480"/>
            <a:ext cx="640080" cy="365760"/>
          </a:xfrm>
          <a:prstGeom prst="rect">
            <a:avLst/>
          </a:prstGeom>
          <a:noFill/>
        </p:spPr>
        <p:txBody>
          <a:bodyPr wrap="square">
            <a:spAutoFit/>
          </a:bodyPr>
          <a:lstStyle/>
          <a:p>
            <a:pPr algn="l"/>
            <a:r>
              <a:rPr sz="1600" b="1">
                <a:solidFill>
                  <a:srgbClr val="1A7A9C"/>
                </a:solidFill>
                <a:latin typeface="Calibri"/>
              </a:rPr>
              <a:t>04</a:t>
            </a:r>
          </a:p>
        </p:txBody>
      </p:sp>
      <p:sp>
        <p:nvSpPr>
          <p:cNvPr id="19" name="TextBox 18"/>
          <p:cNvSpPr txBox="1"/>
          <p:nvPr/>
        </p:nvSpPr>
        <p:spPr>
          <a:xfrm>
            <a:off x="1325880" y="4983480"/>
            <a:ext cx="10149840" cy="347472"/>
          </a:xfrm>
          <a:prstGeom prst="rect">
            <a:avLst/>
          </a:prstGeom>
          <a:noFill/>
        </p:spPr>
        <p:txBody>
          <a:bodyPr wrap="square">
            <a:spAutoFit/>
          </a:bodyPr>
          <a:lstStyle/>
          <a:p>
            <a:pPr algn="l"/>
            <a:r>
              <a:rPr sz="1800" b="1">
                <a:solidFill>
                  <a:srgbClr val="1B2A4A"/>
                </a:solidFill>
                <a:latin typeface="Calibri"/>
              </a:rPr>
              <a:t>Source layers</a:t>
            </a:r>
          </a:p>
        </p:txBody>
      </p:sp>
      <p:sp>
        <p:nvSpPr>
          <p:cNvPr id="20" name="TextBox 19"/>
          <p:cNvSpPr txBox="1"/>
          <p:nvPr/>
        </p:nvSpPr>
        <p:spPr>
          <a:xfrm>
            <a:off x="1325880" y="5330952"/>
            <a:ext cx="10149840" cy="594360"/>
          </a:xfrm>
          <a:prstGeom prst="rect">
            <a:avLst/>
          </a:prstGeom>
          <a:noFill/>
        </p:spPr>
        <p:txBody>
          <a:bodyPr wrap="square">
            <a:spAutoFit/>
          </a:bodyPr>
          <a:lstStyle/>
          <a:p>
            <a:pPr algn="l"/>
            <a:r>
              <a:rPr sz="1400" b="0">
                <a:solidFill>
                  <a:srgbClr val="1F2422"/>
                </a:solidFill>
                <a:latin typeface="Calibri"/>
              </a:rPr>
              <a:t>MOE registry (baseline) → official websites (structured facts) → official Facebook (freshness). Facebook is an update layer. If it fails, cached verified claims stay with timestamps.</a:t>
            </a:r>
          </a:p>
        </p:txBody>
      </p:sp>
      <p:sp>
        <p:nvSpPr>
          <p:cNvPr id="21" name="TextBox 20"/>
          <p:cNvSpPr txBox="1"/>
          <p:nvPr/>
        </p:nvSpPr>
        <p:spPr>
          <a:xfrm>
            <a:off x="457200" y="6510528"/>
            <a:ext cx="9144000" cy="256032"/>
          </a:xfrm>
          <a:prstGeom prst="rect">
            <a:avLst/>
          </a:prstGeom>
          <a:noFill/>
        </p:spPr>
        <p:txBody>
          <a:bodyPr wrap="square">
            <a:spAutoFit/>
          </a:bodyPr>
          <a:lstStyle/>
          <a:p>
            <a:pPr algn="l"/>
            <a:r>
              <a:rPr sz="1100" b="0">
                <a:solidFill>
                  <a:srgbClr val="B8C0C8"/>
                </a:solidFill>
                <a:latin typeface="Calibri"/>
              </a:rPr>
              <a:t>SchoolLens  ·  STI College AI Youth Competition 2026</a:t>
            </a:r>
          </a:p>
        </p:txBody>
      </p:sp>
      <p:sp>
        <p:nvSpPr>
          <p:cNvPr id="22" name="TextBox 21"/>
          <p:cNvSpPr txBox="1"/>
          <p:nvPr/>
        </p:nvSpPr>
        <p:spPr>
          <a:xfrm>
            <a:off x="10424160" y="6510528"/>
            <a:ext cx="1280160" cy="256032"/>
          </a:xfrm>
          <a:prstGeom prst="rect">
            <a:avLst/>
          </a:prstGeom>
          <a:noFill/>
        </p:spPr>
        <p:txBody>
          <a:bodyPr wrap="square">
            <a:spAutoFit/>
          </a:bodyPr>
          <a:lstStyle/>
          <a:p>
            <a:pPr algn="r"/>
            <a:r>
              <a:rPr sz="1100" b="0">
                <a:solidFill>
                  <a:srgbClr val="B8C0C8"/>
                </a:solidFill>
                <a:latin typeface="Calibri"/>
              </a:rPr>
              <a:t>5  /  16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307777"/>
          </a:xfrm>
          <a:prstGeom prst="rect">
            <a:avLst/>
          </a:prstGeom>
          <a:noFill/>
        </p:spPr>
        <p:txBody>
          <a:bodyPr wrap="square">
            <a:spAutoFit/>
          </a:bodyPr>
          <a:lstStyle/>
          <a:p>
            <a:pPr algn="l"/>
            <a:r>
              <a:rPr sz="1400" b="1" dirty="0">
                <a:solidFill>
                  <a:srgbClr val="2F6F62"/>
                </a:solidFill>
                <a:latin typeface="Calibri"/>
              </a:rPr>
              <a:t>Evidence Intelligence Engine</a:t>
            </a:r>
          </a:p>
        </p:txBody>
      </p:sp>
      <p:sp>
        <p:nvSpPr>
          <p:cNvPr id="4" name="TextBox 3"/>
          <p:cNvSpPr txBox="1"/>
          <p:nvPr/>
        </p:nvSpPr>
        <p:spPr>
          <a:xfrm>
            <a:off x="502920" y="475488"/>
            <a:ext cx="11155680" cy="640080"/>
          </a:xfrm>
          <a:prstGeom prst="rect">
            <a:avLst/>
          </a:prstGeom>
          <a:noFill/>
        </p:spPr>
        <p:txBody>
          <a:bodyPr wrap="square">
            <a:spAutoFit/>
          </a:bodyPr>
          <a:lstStyle/>
          <a:p>
            <a:pPr algn="l"/>
            <a:r>
              <a:rPr sz="2800" b="1">
                <a:solidFill>
                  <a:srgbClr val="1B2A4A"/>
                </a:solidFill>
                <a:latin typeface="Calibri"/>
              </a:rPr>
              <a:t>Four-step multilingual grounding pipeline</a:t>
            </a:r>
          </a:p>
        </p:txBody>
      </p:sp>
      <p:sp>
        <p:nvSpPr>
          <p:cNvPr id="5" name="Rounded Rectangle 4"/>
          <p:cNvSpPr/>
          <p:nvPr/>
        </p:nvSpPr>
        <p:spPr>
          <a:xfrm>
            <a:off x="365760" y="1170432"/>
            <a:ext cx="2834640" cy="498348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12064" y="1298448"/>
            <a:ext cx="2542032" cy="640080"/>
          </a:xfrm>
          <a:prstGeom prst="rect">
            <a:avLst/>
          </a:prstGeom>
          <a:noFill/>
        </p:spPr>
        <p:txBody>
          <a:bodyPr wrap="square">
            <a:spAutoFit/>
          </a:bodyPr>
          <a:lstStyle/>
          <a:p>
            <a:pPr algn="l"/>
            <a:r>
              <a:rPr sz="1600" b="1">
                <a:solidFill>
                  <a:srgbClr val="1B2A4A"/>
                </a:solidFill>
                <a:latin typeface="Calibri"/>
              </a:rPr>
              <a:t>01  Ingest</a:t>
            </a:r>
          </a:p>
        </p:txBody>
      </p:sp>
      <p:sp>
        <p:nvSpPr>
          <p:cNvPr id="7" name="TextBox 6"/>
          <p:cNvSpPr txBox="1"/>
          <p:nvPr/>
        </p:nvSpPr>
        <p:spPr>
          <a:xfrm>
            <a:off x="512064" y="1965960"/>
            <a:ext cx="2542032" cy="868680"/>
          </a:xfrm>
          <a:prstGeom prst="rect">
            <a:avLst/>
          </a:prstGeom>
          <a:noFill/>
        </p:spPr>
        <p:txBody>
          <a:bodyPr wrap="square">
            <a:spAutoFit/>
          </a:bodyPr>
          <a:lstStyle/>
          <a:p>
            <a:pPr algn="l"/>
            <a:r>
              <a:rPr sz="1200" b="0">
                <a:solidFill>
                  <a:srgbClr val="1F2422"/>
                </a:solidFill>
                <a:latin typeface="Calibri"/>
              </a:rPr>
              <a:t>•  Crawl MOE records, school websites, official Facebook.</a:t>
            </a:r>
          </a:p>
        </p:txBody>
      </p:sp>
      <p:sp>
        <p:nvSpPr>
          <p:cNvPr id="8" name="TextBox 7"/>
          <p:cNvSpPr txBox="1"/>
          <p:nvPr/>
        </p:nvSpPr>
        <p:spPr>
          <a:xfrm>
            <a:off x="512064" y="2834640"/>
            <a:ext cx="2542032" cy="868680"/>
          </a:xfrm>
          <a:prstGeom prst="rect">
            <a:avLst/>
          </a:prstGeom>
          <a:noFill/>
        </p:spPr>
        <p:txBody>
          <a:bodyPr wrap="square">
            <a:spAutoFit/>
          </a:bodyPr>
          <a:lstStyle/>
          <a:p>
            <a:pPr algn="l"/>
            <a:r>
              <a:rPr sz="1200" b="0">
                <a:solidFill>
                  <a:srgbClr val="1F2422"/>
                </a:solidFill>
                <a:latin typeface="Calibri"/>
              </a:rPr>
              <a:t>•  Convert Zawgyi → Myanmar Unicode (myanmar-tools).</a:t>
            </a:r>
          </a:p>
        </p:txBody>
      </p:sp>
      <p:sp>
        <p:nvSpPr>
          <p:cNvPr id="9" name="TextBox 8"/>
          <p:cNvSpPr txBox="1"/>
          <p:nvPr/>
        </p:nvSpPr>
        <p:spPr>
          <a:xfrm>
            <a:off x="512064" y="3703320"/>
            <a:ext cx="2542032" cy="868680"/>
          </a:xfrm>
          <a:prstGeom prst="rect">
            <a:avLst/>
          </a:prstGeom>
          <a:noFill/>
        </p:spPr>
        <p:txBody>
          <a:bodyPr wrap="square">
            <a:spAutoFit/>
          </a:bodyPr>
          <a:lstStyle/>
          <a:p>
            <a:pPr algn="l"/>
            <a:r>
              <a:rPr sz="1200" b="0">
                <a:solidFill>
                  <a:srgbClr val="1F2422"/>
                </a:solidFill>
                <a:latin typeface="Calibri"/>
              </a:rPr>
              <a:t>•  Store raw HTML/text in raw_sources with crawl timestamps.</a:t>
            </a:r>
          </a:p>
        </p:txBody>
      </p:sp>
      <p:sp>
        <p:nvSpPr>
          <p:cNvPr id="10" name="TextBox 9"/>
          <p:cNvSpPr txBox="1"/>
          <p:nvPr/>
        </p:nvSpPr>
        <p:spPr>
          <a:xfrm>
            <a:off x="512064" y="4572000"/>
            <a:ext cx="2542032" cy="868680"/>
          </a:xfrm>
          <a:prstGeom prst="rect">
            <a:avLst/>
          </a:prstGeom>
          <a:noFill/>
        </p:spPr>
        <p:txBody>
          <a:bodyPr wrap="square">
            <a:spAutoFit/>
          </a:bodyPr>
          <a:lstStyle/>
          <a:p>
            <a:pPr algn="l"/>
            <a:r>
              <a:rPr sz="1200" b="0">
                <a:solidFill>
                  <a:srgbClr val="1F2422"/>
                </a:solidFill>
                <a:latin typeface="Calibri"/>
              </a:rPr>
              <a:t>•  Skip unchanged pages via content hash.</a:t>
            </a:r>
          </a:p>
        </p:txBody>
      </p:sp>
      <p:sp>
        <p:nvSpPr>
          <p:cNvPr id="11" name="Rounded Rectangle 10"/>
          <p:cNvSpPr/>
          <p:nvPr/>
        </p:nvSpPr>
        <p:spPr>
          <a:xfrm>
            <a:off x="3310128" y="1170432"/>
            <a:ext cx="2834640" cy="498348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456432" y="1298448"/>
            <a:ext cx="2542032" cy="640080"/>
          </a:xfrm>
          <a:prstGeom prst="rect">
            <a:avLst/>
          </a:prstGeom>
          <a:noFill/>
        </p:spPr>
        <p:txBody>
          <a:bodyPr wrap="square">
            <a:spAutoFit/>
          </a:bodyPr>
          <a:lstStyle/>
          <a:p>
            <a:pPr algn="l"/>
            <a:r>
              <a:rPr sz="1600" b="1">
                <a:solidFill>
                  <a:srgbClr val="1B2A4A"/>
                </a:solidFill>
                <a:latin typeface="Calibri"/>
              </a:rPr>
              <a:t>02  Extract</a:t>
            </a:r>
          </a:p>
        </p:txBody>
      </p:sp>
      <p:sp>
        <p:nvSpPr>
          <p:cNvPr id="13" name="TextBox 12"/>
          <p:cNvSpPr txBox="1"/>
          <p:nvPr/>
        </p:nvSpPr>
        <p:spPr>
          <a:xfrm>
            <a:off x="3456432" y="1965960"/>
            <a:ext cx="2542032" cy="868680"/>
          </a:xfrm>
          <a:prstGeom prst="rect">
            <a:avLst/>
          </a:prstGeom>
          <a:noFill/>
        </p:spPr>
        <p:txBody>
          <a:bodyPr wrap="square">
            <a:spAutoFit/>
          </a:bodyPr>
          <a:lstStyle/>
          <a:p>
            <a:pPr algn="l"/>
            <a:r>
              <a:rPr sz="1200" b="0">
                <a:solidFill>
                  <a:srgbClr val="1F2422"/>
                </a:solidFill>
                <a:latin typeface="Calibri"/>
              </a:rPr>
              <a:t>•  Gemini Flash-Lite pulls discrete claims (fees, curriculum, safety).</a:t>
            </a:r>
          </a:p>
        </p:txBody>
      </p:sp>
      <p:sp>
        <p:nvSpPr>
          <p:cNvPr id="14" name="TextBox 13"/>
          <p:cNvSpPr txBox="1"/>
          <p:nvPr/>
        </p:nvSpPr>
        <p:spPr>
          <a:xfrm>
            <a:off x="3456432" y="2834640"/>
            <a:ext cx="2542032" cy="868680"/>
          </a:xfrm>
          <a:prstGeom prst="rect">
            <a:avLst/>
          </a:prstGeom>
          <a:noFill/>
        </p:spPr>
        <p:txBody>
          <a:bodyPr wrap="square">
            <a:spAutoFit/>
          </a:bodyPr>
          <a:lstStyle/>
          <a:p>
            <a:pPr algn="l"/>
            <a:r>
              <a:rPr sz="1200" b="0">
                <a:solidFill>
                  <a:srgbClr val="1F2422"/>
                </a:solidFill>
                <a:latin typeface="Calibri"/>
              </a:rPr>
              <a:t>•  Structured claim_text normalized to English.</a:t>
            </a:r>
          </a:p>
        </p:txBody>
      </p:sp>
      <p:sp>
        <p:nvSpPr>
          <p:cNvPr id="15" name="TextBox 14"/>
          <p:cNvSpPr txBox="1"/>
          <p:nvPr/>
        </p:nvSpPr>
        <p:spPr>
          <a:xfrm>
            <a:off x="3456432" y="3703320"/>
            <a:ext cx="2542032" cy="868680"/>
          </a:xfrm>
          <a:prstGeom prst="rect">
            <a:avLst/>
          </a:prstGeom>
          <a:noFill/>
        </p:spPr>
        <p:txBody>
          <a:bodyPr wrap="square">
            <a:spAutoFit/>
          </a:bodyPr>
          <a:lstStyle/>
          <a:p>
            <a:pPr algn="l"/>
            <a:r>
              <a:rPr sz="1200" b="0">
                <a:solidFill>
                  <a:srgbClr val="1F2422"/>
                </a:solidFill>
                <a:latin typeface="Calibri"/>
              </a:rPr>
              <a:t>•  Facebook excerpts stay verbatim Burmese.</a:t>
            </a:r>
          </a:p>
        </p:txBody>
      </p:sp>
      <p:sp>
        <p:nvSpPr>
          <p:cNvPr id="16" name="TextBox 15"/>
          <p:cNvSpPr txBox="1"/>
          <p:nvPr/>
        </p:nvSpPr>
        <p:spPr>
          <a:xfrm>
            <a:off x="3456432" y="4572000"/>
            <a:ext cx="2542032" cy="868680"/>
          </a:xfrm>
          <a:prstGeom prst="rect">
            <a:avLst/>
          </a:prstGeom>
          <a:noFill/>
        </p:spPr>
        <p:txBody>
          <a:bodyPr wrap="square">
            <a:spAutoFit/>
          </a:bodyPr>
          <a:lstStyle/>
          <a:p>
            <a:pPr algn="l"/>
            <a:r>
              <a:rPr sz="1200" b="0">
                <a:solidFill>
                  <a:srgbClr val="1F2422"/>
                </a:solidFill>
                <a:latin typeface="Calibri"/>
              </a:rPr>
              <a:t>•  Each claim tagged: source type, trust tier, category.</a:t>
            </a:r>
          </a:p>
        </p:txBody>
      </p:sp>
      <p:sp>
        <p:nvSpPr>
          <p:cNvPr id="17" name="Rounded Rectangle 16"/>
          <p:cNvSpPr/>
          <p:nvPr/>
        </p:nvSpPr>
        <p:spPr>
          <a:xfrm>
            <a:off x="6254496" y="1170432"/>
            <a:ext cx="2834640" cy="498348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400800" y="1298448"/>
            <a:ext cx="2542032" cy="640080"/>
          </a:xfrm>
          <a:prstGeom prst="rect">
            <a:avLst/>
          </a:prstGeom>
          <a:noFill/>
        </p:spPr>
        <p:txBody>
          <a:bodyPr wrap="square">
            <a:spAutoFit/>
          </a:bodyPr>
          <a:lstStyle/>
          <a:p>
            <a:pPr algn="l"/>
            <a:r>
              <a:rPr sz="1600" b="1">
                <a:solidFill>
                  <a:srgbClr val="1B2A4A"/>
                </a:solidFill>
                <a:latin typeface="Calibri"/>
              </a:rPr>
              <a:t>03  Reconcile</a:t>
            </a:r>
          </a:p>
        </p:txBody>
      </p:sp>
      <p:sp>
        <p:nvSpPr>
          <p:cNvPr id="19" name="TextBox 18"/>
          <p:cNvSpPr txBox="1"/>
          <p:nvPr/>
        </p:nvSpPr>
        <p:spPr>
          <a:xfrm>
            <a:off x="6400800" y="1965960"/>
            <a:ext cx="2542032" cy="868680"/>
          </a:xfrm>
          <a:prstGeom prst="rect">
            <a:avLst/>
          </a:prstGeom>
          <a:noFill/>
        </p:spPr>
        <p:txBody>
          <a:bodyPr wrap="square">
            <a:spAutoFit/>
          </a:bodyPr>
          <a:lstStyle/>
          <a:p>
            <a:pPr algn="l"/>
            <a:r>
              <a:rPr sz="1200" b="0">
                <a:solidFill>
                  <a:srgbClr val="1F2422"/>
                </a:solidFill>
                <a:latin typeface="Calibri"/>
              </a:rPr>
              <a:t>•  pgvector groups the same fact across languages.</a:t>
            </a:r>
          </a:p>
        </p:txBody>
      </p:sp>
      <p:sp>
        <p:nvSpPr>
          <p:cNvPr id="20" name="TextBox 19"/>
          <p:cNvSpPr txBox="1"/>
          <p:nvPr/>
        </p:nvSpPr>
        <p:spPr>
          <a:xfrm>
            <a:off x="6400800" y="2834640"/>
            <a:ext cx="2542032" cy="868680"/>
          </a:xfrm>
          <a:prstGeom prst="rect">
            <a:avLst/>
          </a:prstGeom>
          <a:noFill/>
        </p:spPr>
        <p:txBody>
          <a:bodyPr wrap="square">
            <a:spAutoFit/>
          </a:bodyPr>
          <a:lstStyle/>
          <a:p>
            <a:pPr algn="l"/>
            <a:r>
              <a:rPr sz="1200" b="0">
                <a:solidFill>
                  <a:srgbClr val="1F2422"/>
                </a:solidFill>
                <a:latin typeface="Calibri"/>
              </a:rPr>
              <a:t>•  Gemini labels Supported / Likely / Conflicting / Outdated / Unknown.</a:t>
            </a:r>
          </a:p>
        </p:txBody>
      </p:sp>
      <p:sp>
        <p:nvSpPr>
          <p:cNvPr id="21" name="TextBox 20"/>
          <p:cNvSpPr txBox="1"/>
          <p:nvPr/>
        </p:nvSpPr>
        <p:spPr>
          <a:xfrm>
            <a:off x="6400800" y="3703320"/>
            <a:ext cx="2542032" cy="868680"/>
          </a:xfrm>
          <a:prstGeom prst="rect">
            <a:avLst/>
          </a:prstGeom>
          <a:noFill/>
        </p:spPr>
        <p:txBody>
          <a:bodyPr wrap="square">
            <a:spAutoFit/>
          </a:bodyPr>
          <a:lstStyle/>
          <a:p>
            <a:pPr algn="l"/>
            <a:r>
              <a:rPr sz="1200" b="0">
                <a:solidFill>
                  <a:srgbClr val="1F2422"/>
                </a:solidFill>
                <a:latin typeface="Calibri"/>
              </a:rPr>
              <a:t>•  Conflicts keep both excerpts — never a silent winner.</a:t>
            </a:r>
          </a:p>
        </p:txBody>
      </p:sp>
      <p:sp>
        <p:nvSpPr>
          <p:cNvPr id="22" name="TextBox 21"/>
          <p:cNvSpPr txBox="1"/>
          <p:nvPr/>
        </p:nvSpPr>
        <p:spPr>
          <a:xfrm>
            <a:off x="6400800" y="4572000"/>
            <a:ext cx="2542032" cy="868680"/>
          </a:xfrm>
          <a:prstGeom prst="rect">
            <a:avLst/>
          </a:prstGeom>
          <a:noFill/>
        </p:spPr>
        <p:txBody>
          <a:bodyPr wrap="square">
            <a:spAutoFit/>
          </a:bodyPr>
          <a:lstStyle/>
          <a:p>
            <a:pPr algn="l"/>
            <a:r>
              <a:rPr sz="1200" b="0">
                <a:solidFill>
                  <a:srgbClr val="1F2422"/>
                </a:solidFill>
                <a:latin typeface="Calibri"/>
              </a:rPr>
              <a:t>•  school_summaries generated from Supported + Likely only.</a:t>
            </a:r>
          </a:p>
        </p:txBody>
      </p:sp>
      <p:sp>
        <p:nvSpPr>
          <p:cNvPr id="23" name="Rounded Rectangle 22"/>
          <p:cNvSpPr/>
          <p:nvPr/>
        </p:nvSpPr>
        <p:spPr>
          <a:xfrm>
            <a:off x="9198864" y="1170432"/>
            <a:ext cx="2834640" cy="498348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45168" y="1298448"/>
            <a:ext cx="2542032" cy="640080"/>
          </a:xfrm>
          <a:prstGeom prst="rect">
            <a:avLst/>
          </a:prstGeom>
          <a:noFill/>
        </p:spPr>
        <p:txBody>
          <a:bodyPr wrap="square">
            <a:spAutoFit/>
          </a:bodyPr>
          <a:lstStyle/>
          <a:p>
            <a:pPr algn="l"/>
            <a:r>
              <a:rPr sz="1600" b="1">
                <a:solidFill>
                  <a:srgbClr val="1B2A4A"/>
                </a:solidFill>
                <a:latin typeface="Calibri"/>
              </a:rPr>
              <a:t>04  Serve</a:t>
            </a:r>
          </a:p>
        </p:txBody>
      </p:sp>
      <p:sp>
        <p:nvSpPr>
          <p:cNvPr id="25" name="TextBox 24"/>
          <p:cNvSpPr txBox="1"/>
          <p:nvPr/>
        </p:nvSpPr>
        <p:spPr>
          <a:xfrm>
            <a:off x="9345168" y="1965960"/>
            <a:ext cx="2542032" cy="868680"/>
          </a:xfrm>
          <a:prstGeom prst="rect">
            <a:avLst/>
          </a:prstGeom>
          <a:noFill/>
        </p:spPr>
        <p:txBody>
          <a:bodyPr wrap="square">
            <a:spAutoFit/>
          </a:bodyPr>
          <a:lstStyle/>
          <a:p>
            <a:pPr algn="l"/>
            <a:r>
              <a:rPr sz="1200" b="0">
                <a:solidFill>
                  <a:srgbClr val="1F2422"/>
                </a:solidFill>
                <a:latin typeface="Calibri"/>
              </a:rPr>
              <a:t>•  Directory + profile read stored claim_groups.</a:t>
            </a:r>
          </a:p>
        </p:txBody>
      </p:sp>
      <p:sp>
        <p:nvSpPr>
          <p:cNvPr id="26" name="TextBox 25"/>
          <p:cNvSpPr txBox="1"/>
          <p:nvPr/>
        </p:nvSpPr>
        <p:spPr>
          <a:xfrm>
            <a:off x="9345168" y="2834640"/>
            <a:ext cx="2542032" cy="868680"/>
          </a:xfrm>
          <a:prstGeom prst="rect">
            <a:avLst/>
          </a:prstGeom>
          <a:noFill/>
        </p:spPr>
        <p:txBody>
          <a:bodyPr wrap="square">
            <a:spAutoFit/>
          </a:bodyPr>
          <a:lstStyle/>
          <a:p>
            <a:pPr algn="l"/>
            <a:r>
              <a:rPr sz="1200" b="0">
                <a:solidFill>
                  <a:srgbClr val="1F2422"/>
                </a:solidFill>
                <a:latin typeface="Calibri"/>
              </a:rPr>
              <a:t>•  Ask retrieves relevant groups, then generates with citations.</a:t>
            </a:r>
          </a:p>
        </p:txBody>
      </p:sp>
      <p:sp>
        <p:nvSpPr>
          <p:cNvPr id="27" name="TextBox 26"/>
          <p:cNvSpPr txBox="1"/>
          <p:nvPr/>
        </p:nvSpPr>
        <p:spPr>
          <a:xfrm>
            <a:off x="9345168" y="3703320"/>
            <a:ext cx="2542032" cy="868680"/>
          </a:xfrm>
          <a:prstGeom prst="rect">
            <a:avLst/>
          </a:prstGeom>
          <a:noFill/>
        </p:spPr>
        <p:txBody>
          <a:bodyPr wrap="square">
            <a:spAutoFit/>
          </a:bodyPr>
          <a:lstStyle/>
          <a:p>
            <a:pPr algn="l"/>
            <a:r>
              <a:rPr sz="1200" b="0">
                <a:solidFill>
                  <a:srgbClr val="1F2422"/>
                </a:solidFill>
                <a:latin typeface="Calibri"/>
              </a:rPr>
              <a:t>•  If retrieval is empty: “no verified evidence.”</a:t>
            </a:r>
          </a:p>
        </p:txBody>
      </p:sp>
      <p:sp>
        <p:nvSpPr>
          <p:cNvPr id="28" name="TextBox 27"/>
          <p:cNvSpPr txBox="1"/>
          <p:nvPr/>
        </p:nvSpPr>
        <p:spPr>
          <a:xfrm>
            <a:off x="9345168" y="4572000"/>
            <a:ext cx="2542032" cy="868680"/>
          </a:xfrm>
          <a:prstGeom prst="rect">
            <a:avLst/>
          </a:prstGeom>
          <a:noFill/>
        </p:spPr>
        <p:txBody>
          <a:bodyPr wrap="square">
            <a:spAutoFit/>
          </a:bodyPr>
          <a:lstStyle/>
          <a:p>
            <a:pPr algn="l"/>
            <a:r>
              <a:rPr sz="1200" b="0" dirty="0">
                <a:solidFill>
                  <a:srgbClr val="1F2422"/>
                </a:solidFill>
                <a:latin typeface="Calibri"/>
              </a:rPr>
              <a:t>•  Operator recrawl queue; moderator reviews disputes.</a:t>
            </a:r>
          </a:p>
        </p:txBody>
      </p:sp>
      <p:sp>
        <p:nvSpPr>
          <p:cNvPr id="29" name="TextBox 28"/>
          <p:cNvSpPr txBox="1"/>
          <p:nvPr/>
        </p:nvSpPr>
        <p:spPr>
          <a:xfrm>
            <a:off x="457200" y="6510528"/>
            <a:ext cx="9144000" cy="256032"/>
          </a:xfrm>
          <a:prstGeom prst="rect">
            <a:avLst/>
          </a:prstGeom>
          <a:noFill/>
        </p:spPr>
        <p:txBody>
          <a:bodyPr wrap="square">
            <a:spAutoFit/>
          </a:bodyPr>
          <a:lstStyle/>
          <a:p>
            <a:pPr algn="l"/>
            <a:r>
              <a:rPr sz="1100" b="0">
                <a:solidFill>
                  <a:srgbClr val="B8C0C8"/>
                </a:solidFill>
                <a:latin typeface="Calibri"/>
              </a:rPr>
              <a:t>SchoolLens  ·  STI College AI Youth Competition 2026</a:t>
            </a:r>
          </a:p>
        </p:txBody>
      </p:sp>
      <p:sp>
        <p:nvSpPr>
          <p:cNvPr id="30" name="TextBox 29"/>
          <p:cNvSpPr txBox="1"/>
          <p:nvPr/>
        </p:nvSpPr>
        <p:spPr>
          <a:xfrm>
            <a:off x="10424160" y="6510528"/>
            <a:ext cx="1280160" cy="256032"/>
          </a:xfrm>
          <a:prstGeom prst="rect">
            <a:avLst/>
          </a:prstGeom>
          <a:noFill/>
        </p:spPr>
        <p:txBody>
          <a:bodyPr wrap="square">
            <a:spAutoFit/>
          </a:bodyPr>
          <a:lstStyle/>
          <a:p>
            <a:pPr algn="r"/>
            <a:r>
              <a:rPr sz="1100" b="0">
                <a:solidFill>
                  <a:srgbClr val="B8C0C8"/>
                </a:solidFill>
                <a:latin typeface="Calibri"/>
              </a:rPr>
              <a:t>6  /  16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307777"/>
          </a:xfrm>
          <a:prstGeom prst="rect">
            <a:avLst/>
          </a:prstGeom>
          <a:noFill/>
        </p:spPr>
        <p:txBody>
          <a:bodyPr wrap="square">
            <a:spAutoFit/>
          </a:bodyPr>
          <a:lstStyle/>
          <a:p>
            <a:pPr algn="l"/>
            <a:r>
              <a:rPr sz="1400" b="1" dirty="0">
                <a:solidFill>
                  <a:srgbClr val="2F6F62"/>
                </a:solidFill>
                <a:latin typeface="Calibri"/>
              </a:rPr>
              <a:t>Working prototype — captured from the live app</a:t>
            </a:r>
          </a:p>
        </p:txBody>
      </p:sp>
      <p:sp>
        <p:nvSpPr>
          <p:cNvPr id="4" name="TextBox 3"/>
          <p:cNvSpPr txBox="1"/>
          <p:nvPr/>
        </p:nvSpPr>
        <p:spPr>
          <a:xfrm>
            <a:off x="502920" y="475488"/>
            <a:ext cx="11155680" cy="640080"/>
          </a:xfrm>
          <a:prstGeom prst="rect">
            <a:avLst/>
          </a:prstGeom>
          <a:noFill/>
        </p:spPr>
        <p:txBody>
          <a:bodyPr wrap="square">
            <a:spAutoFit/>
          </a:bodyPr>
          <a:lstStyle/>
          <a:p>
            <a:pPr algn="l"/>
            <a:r>
              <a:rPr sz="2800" b="1">
                <a:solidFill>
                  <a:srgbClr val="1B2A4A"/>
                </a:solidFill>
                <a:latin typeface="Calibri"/>
              </a:rPr>
              <a:t>Public home and the school register</a:t>
            </a:r>
          </a:p>
        </p:txBody>
      </p:sp>
      <p:pic>
        <p:nvPicPr>
          <p:cNvPr id="5" name="Picture 4" descr="01-home.png"/>
          <p:cNvPicPr>
            <a:picLocks noChangeAspect="1"/>
          </p:cNvPicPr>
          <p:nvPr/>
        </p:nvPicPr>
        <p:blipFill>
          <a:blip r:embed="rId3"/>
          <a:stretch>
            <a:fillRect/>
          </a:stretch>
        </p:blipFill>
        <p:spPr>
          <a:xfrm>
            <a:off x="411480" y="1170432"/>
            <a:ext cx="5623560" cy="3511296"/>
          </a:xfrm>
          <a:prstGeom prst="rect">
            <a:avLst/>
          </a:prstGeom>
        </p:spPr>
      </p:pic>
      <p:pic>
        <p:nvPicPr>
          <p:cNvPr id="6" name="Picture 5" descr="02-directory.png"/>
          <p:cNvPicPr>
            <a:picLocks noChangeAspect="1"/>
          </p:cNvPicPr>
          <p:nvPr/>
        </p:nvPicPr>
        <p:blipFill>
          <a:blip r:embed="rId4"/>
          <a:stretch>
            <a:fillRect/>
          </a:stretch>
        </p:blipFill>
        <p:spPr>
          <a:xfrm>
            <a:off x="6172200" y="1170432"/>
            <a:ext cx="5623560" cy="3511296"/>
          </a:xfrm>
          <a:prstGeom prst="rect">
            <a:avLst/>
          </a:prstGeom>
        </p:spPr>
      </p:pic>
      <p:sp>
        <p:nvSpPr>
          <p:cNvPr id="7" name="TextBox 6"/>
          <p:cNvSpPr txBox="1"/>
          <p:nvPr/>
        </p:nvSpPr>
        <p:spPr>
          <a:xfrm>
            <a:off x="411480" y="4754880"/>
            <a:ext cx="5623560" cy="640080"/>
          </a:xfrm>
          <a:prstGeom prst="rect">
            <a:avLst/>
          </a:prstGeom>
          <a:noFill/>
        </p:spPr>
        <p:txBody>
          <a:bodyPr wrap="square">
            <a:spAutoFit/>
          </a:bodyPr>
          <a:lstStyle/>
          <a:p>
            <a:pPr algn="l"/>
            <a:r>
              <a:rPr sz="1300" b="0">
                <a:solidFill>
                  <a:srgbClr val="5B6461"/>
                </a:solidFill>
                <a:latin typeface="Calibri"/>
              </a:rPr>
              <a:t>Home: evidence, not a ranking. 253 MOE-listed schools.</a:t>
            </a:r>
          </a:p>
        </p:txBody>
      </p:sp>
      <p:sp>
        <p:nvSpPr>
          <p:cNvPr id="8" name="TextBox 7"/>
          <p:cNvSpPr txBox="1"/>
          <p:nvPr/>
        </p:nvSpPr>
        <p:spPr>
          <a:xfrm>
            <a:off x="6172200" y="4754880"/>
            <a:ext cx="5623560" cy="1280160"/>
          </a:xfrm>
          <a:prstGeom prst="rect">
            <a:avLst/>
          </a:prstGeom>
          <a:noFill/>
        </p:spPr>
        <p:txBody>
          <a:bodyPr wrap="square">
            <a:spAutoFit/>
          </a:bodyPr>
          <a:lstStyle/>
          <a:p>
            <a:pPr algn="l"/>
            <a:r>
              <a:rPr sz="1300" b="0">
                <a:solidFill>
                  <a:srgbClr val="5B6461"/>
                </a:solidFill>
                <a:latin typeface="Calibri"/>
              </a:rPr>
              <a:t>Directory: search, curriculum filter, Conflicts only. Confidence chip on every row.</a:t>
            </a:r>
          </a:p>
        </p:txBody>
      </p:sp>
      <p:sp>
        <p:nvSpPr>
          <p:cNvPr id="9" name="TextBox 8"/>
          <p:cNvSpPr txBox="1"/>
          <p:nvPr/>
        </p:nvSpPr>
        <p:spPr>
          <a:xfrm>
            <a:off x="457200" y="6510528"/>
            <a:ext cx="9144000" cy="256032"/>
          </a:xfrm>
          <a:prstGeom prst="rect">
            <a:avLst/>
          </a:prstGeom>
          <a:noFill/>
        </p:spPr>
        <p:txBody>
          <a:bodyPr wrap="square">
            <a:spAutoFit/>
          </a:bodyPr>
          <a:lstStyle/>
          <a:p>
            <a:pPr algn="l"/>
            <a:r>
              <a:rPr sz="1100" b="0">
                <a:solidFill>
                  <a:srgbClr val="B8C0C8"/>
                </a:solidFill>
                <a:latin typeface="Calibri"/>
              </a:rPr>
              <a:t>SchoolLens  ·  STI College AI Youth Competition 2026</a:t>
            </a:r>
          </a:p>
        </p:txBody>
      </p:sp>
      <p:sp>
        <p:nvSpPr>
          <p:cNvPr id="10" name="TextBox 9"/>
          <p:cNvSpPr txBox="1"/>
          <p:nvPr/>
        </p:nvSpPr>
        <p:spPr>
          <a:xfrm>
            <a:off x="10424160" y="6510528"/>
            <a:ext cx="1280160" cy="256032"/>
          </a:xfrm>
          <a:prstGeom prst="rect">
            <a:avLst/>
          </a:prstGeom>
          <a:noFill/>
        </p:spPr>
        <p:txBody>
          <a:bodyPr wrap="square">
            <a:spAutoFit/>
          </a:bodyPr>
          <a:lstStyle/>
          <a:p>
            <a:pPr algn="r"/>
            <a:r>
              <a:rPr sz="1100" b="0">
                <a:solidFill>
                  <a:srgbClr val="B8C0C8"/>
                </a:solidFill>
                <a:latin typeface="Calibri"/>
              </a:rPr>
              <a:t>7  /  16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307777"/>
          </a:xfrm>
          <a:prstGeom prst="rect">
            <a:avLst/>
          </a:prstGeom>
          <a:noFill/>
        </p:spPr>
        <p:txBody>
          <a:bodyPr wrap="square">
            <a:spAutoFit/>
          </a:bodyPr>
          <a:lstStyle/>
          <a:p>
            <a:pPr algn="l"/>
            <a:r>
              <a:rPr sz="1400" b="1" dirty="0">
                <a:solidFill>
                  <a:srgbClr val="2F6F62"/>
                </a:solidFill>
                <a:latin typeface="Calibri"/>
              </a:rPr>
              <a:t>Working prototype — real school records</a:t>
            </a:r>
          </a:p>
        </p:txBody>
      </p:sp>
      <p:sp>
        <p:nvSpPr>
          <p:cNvPr id="4" name="TextBox 3"/>
          <p:cNvSpPr txBox="1"/>
          <p:nvPr/>
        </p:nvSpPr>
        <p:spPr>
          <a:xfrm>
            <a:off x="502920" y="475488"/>
            <a:ext cx="11155680" cy="640080"/>
          </a:xfrm>
          <a:prstGeom prst="rect">
            <a:avLst/>
          </a:prstGeom>
          <a:noFill/>
        </p:spPr>
        <p:txBody>
          <a:bodyPr wrap="square">
            <a:spAutoFit/>
          </a:bodyPr>
          <a:lstStyle/>
          <a:p>
            <a:pPr algn="l"/>
            <a:r>
              <a:rPr sz="2800" b="1">
                <a:solidFill>
                  <a:srgbClr val="1B2A4A"/>
                </a:solidFill>
                <a:latin typeface="Calibri"/>
              </a:rPr>
              <a:t>Evidence ledger and conflict inspector</a:t>
            </a:r>
          </a:p>
        </p:txBody>
      </p:sp>
      <p:pic>
        <p:nvPicPr>
          <p:cNvPr id="5" name="Picture 4" descr="03-profile.png"/>
          <p:cNvPicPr>
            <a:picLocks noChangeAspect="1"/>
          </p:cNvPicPr>
          <p:nvPr/>
        </p:nvPicPr>
        <p:blipFill>
          <a:blip r:embed="rId3"/>
          <a:stretch>
            <a:fillRect/>
          </a:stretch>
        </p:blipFill>
        <p:spPr>
          <a:xfrm>
            <a:off x="411480" y="1170432"/>
            <a:ext cx="5623560" cy="3511296"/>
          </a:xfrm>
          <a:prstGeom prst="rect">
            <a:avLst/>
          </a:prstGeom>
        </p:spPr>
      </p:pic>
      <p:pic>
        <p:nvPicPr>
          <p:cNvPr id="6" name="Picture 5" descr="05-conflict.png"/>
          <p:cNvPicPr>
            <a:picLocks noChangeAspect="1"/>
          </p:cNvPicPr>
          <p:nvPr/>
        </p:nvPicPr>
        <p:blipFill>
          <a:blip r:embed="rId4"/>
          <a:stretch>
            <a:fillRect/>
          </a:stretch>
        </p:blipFill>
        <p:spPr>
          <a:xfrm>
            <a:off x="6172200" y="1170432"/>
            <a:ext cx="5623560" cy="3511296"/>
          </a:xfrm>
          <a:prstGeom prst="rect">
            <a:avLst/>
          </a:prstGeom>
        </p:spPr>
      </p:pic>
      <p:sp>
        <p:nvSpPr>
          <p:cNvPr id="7" name="TextBox 6"/>
          <p:cNvSpPr txBox="1"/>
          <p:nvPr/>
        </p:nvSpPr>
        <p:spPr>
          <a:xfrm>
            <a:off x="411480" y="4754880"/>
            <a:ext cx="5623560" cy="1280160"/>
          </a:xfrm>
          <a:prstGeom prst="rect">
            <a:avLst/>
          </a:prstGeom>
          <a:noFill/>
        </p:spPr>
        <p:txBody>
          <a:bodyPr wrap="square">
            <a:spAutoFit/>
          </a:bodyPr>
          <a:lstStyle/>
          <a:p>
            <a:pPr algn="l"/>
            <a:r>
              <a:rPr sz="1300" b="0">
                <a:solidFill>
                  <a:srgbClr val="5B6461"/>
                </a:solidFill>
                <a:latin typeface="Calibri"/>
              </a:rPr>
              <a:t>The International School Yangon: 107 claim groups, Supported / Likely / Conflicting / Unknown counts, grounded Ask.</a:t>
            </a:r>
          </a:p>
        </p:txBody>
      </p:sp>
      <p:sp>
        <p:nvSpPr>
          <p:cNvPr id="8" name="TextBox 7"/>
          <p:cNvSpPr txBox="1"/>
          <p:nvPr/>
        </p:nvSpPr>
        <p:spPr>
          <a:xfrm>
            <a:off x="6172200" y="4754880"/>
            <a:ext cx="5623560" cy="1280160"/>
          </a:xfrm>
          <a:prstGeom prst="rect">
            <a:avLst/>
          </a:prstGeom>
          <a:noFill/>
        </p:spPr>
        <p:txBody>
          <a:bodyPr wrap="square">
            <a:spAutoFit/>
          </a:bodyPr>
          <a:lstStyle/>
          <a:p>
            <a:pPr algn="l"/>
            <a:r>
              <a:rPr sz="1300" b="0">
                <a:solidFill>
                  <a:srgbClr val="5B6461"/>
                </a:solidFill>
                <a:latin typeface="Calibri"/>
              </a:rPr>
              <a:t>Real conflict: admissions@isyedu.org vs spadmissions@isyedu.org — both quotes kept, dated.</a:t>
            </a:r>
          </a:p>
        </p:txBody>
      </p:sp>
      <p:sp>
        <p:nvSpPr>
          <p:cNvPr id="9" name="TextBox 8"/>
          <p:cNvSpPr txBox="1"/>
          <p:nvPr/>
        </p:nvSpPr>
        <p:spPr>
          <a:xfrm>
            <a:off x="457200" y="6510528"/>
            <a:ext cx="9144000" cy="256032"/>
          </a:xfrm>
          <a:prstGeom prst="rect">
            <a:avLst/>
          </a:prstGeom>
          <a:noFill/>
        </p:spPr>
        <p:txBody>
          <a:bodyPr wrap="square">
            <a:spAutoFit/>
          </a:bodyPr>
          <a:lstStyle/>
          <a:p>
            <a:pPr algn="l"/>
            <a:r>
              <a:rPr sz="1100" b="0">
                <a:solidFill>
                  <a:srgbClr val="B8C0C8"/>
                </a:solidFill>
                <a:latin typeface="Calibri"/>
              </a:rPr>
              <a:t>SchoolLens  ·  STI College AI Youth Competition 2026</a:t>
            </a:r>
          </a:p>
        </p:txBody>
      </p:sp>
      <p:sp>
        <p:nvSpPr>
          <p:cNvPr id="10" name="TextBox 9"/>
          <p:cNvSpPr txBox="1"/>
          <p:nvPr/>
        </p:nvSpPr>
        <p:spPr>
          <a:xfrm>
            <a:off x="10424160" y="6510528"/>
            <a:ext cx="1280160" cy="256032"/>
          </a:xfrm>
          <a:prstGeom prst="rect">
            <a:avLst/>
          </a:prstGeom>
          <a:noFill/>
        </p:spPr>
        <p:txBody>
          <a:bodyPr wrap="square">
            <a:spAutoFit/>
          </a:bodyPr>
          <a:lstStyle/>
          <a:p>
            <a:pPr algn="r"/>
            <a:r>
              <a:rPr sz="1100" b="0">
                <a:solidFill>
                  <a:srgbClr val="B8C0C8"/>
                </a:solidFill>
                <a:latin typeface="Calibri"/>
              </a:rPr>
              <a:t>8  /  16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307777"/>
          </a:xfrm>
          <a:prstGeom prst="rect">
            <a:avLst/>
          </a:prstGeom>
          <a:noFill/>
        </p:spPr>
        <p:txBody>
          <a:bodyPr wrap="square">
            <a:spAutoFit/>
          </a:bodyPr>
          <a:lstStyle/>
          <a:p>
            <a:pPr algn="l"/>
            <a:r>
              <a:rPr sz="1400" b="1" dirty="0">
                <a:solidFill>
                  <a:srgbClr val="2F6F62"/>
                </a:solidFill>
                <a:latin typeface="Calibri"/>
              </a:rPr>
              <a:t>Working prototype — Ask and multi-branch</a:t>
            </a:r>
          </a:p>
        </p:txBody>
      </p:sp>
      <p:sp>
        <p:nvSpPr>
          <p:cNvPr id="4" name="TextBox 3"/>
          <p:cNvSpPr txBox="1"/>
          <p:nvPr/>
        </p:nvSpPr>
        <p:spPr>
          <a:xfrm>
            <a:off x="502920" y="475488"/>
            <a:ext cx="11155680" cy="640080"/>
          </a:xfrm>
          <a:prstGeom prst="rect">
            <a:avLst/>
          </a:prstGeom>
          <a:noFill/>
        </p:spPr>
        <p:txBody>
          <a:bodyPr wrap="square">
            <a:spAutoFit/>
          </a:bodyPr>
          <a:lstStyle/>
          <a:p>
            <a:pPr algn="l"/>
            <a:r>
              <a:rPr sz="2800" b="1">
                <a:solidFill>
                  <a:srgbClr val="1B2A4A"/>
                </a:solidFill>
                <a:latin typeface="Calibri"/>
              </a:rPr>
              <a:t>Grounded Q&amp;A and a 13-campus network</a:t>
            </a:r>
          </a:p>
        </p:txBody>
      </p:sp>
      <p:pic>
        <p:nvPicPr>
          <p:cNvPr id="5" name="Picture 4" descr="04-ask.png"/>
          <p:cNvPicPr>
            <a:picLocks noChangeAspect="1"/>
          </p:cNvPicPr>
          <p:nvPr/>
        </p:nvPicPr>
        <p:blipFill>
          <a:blip r:embed="rId3"/>
          <a:stretch>
            <a:fillRect/>
          </a:stretch>
        </p:blipFill>
        <p:spPr>
          <a:xfrm>
            <a:off x="411480" y="1170432"/>
            <a:ext cx="5623560" cy="3511296"/>
          </a:xfrm>
          <a:prstGeom prst="rect">
            <a:avLst/>
          </a:prstGeom>
        </p:spPr>
      </p:pic>
      <p:pic>
        <p:nvPicPr>
          <p:cNvPr id="6" name="Picture 5" descr="06-profile-ilbc.png"/>
          <p:cNvPicPr>
            <a:picLocks noChangeAspect="1"/>
          </p:cNvPicPr>
          <p:nvPr/>
        </p:nvPicPr>
        <p:blipFill>
          <a:blip r:embed="rId4"/>
          <a:stretch>
            <a:fillRect/>
          </a:stretch>
        </p:blipFill>
        <p:spPr>
          <a:xfrm>
            <a:off x="6172200" y="1170432"/>
            <a:ext cx="5623560" cy="3511296"/>
          </a:xfrm>
          <a:prstGeom prst="rect">
            <a:avLst/>
          </a:prstGeom>
        </p:spPr>
      </p:pic>
      <p:sp>
        <p:nvSpPr>
          <p:cNvPr id="7" name="TextBox 6"/>
          <p:cNvSpPr txBox="1"/>
          <p:nvPr/>
        </p:nvSpPr>
        <p:spPr>
          <a:xfrm>
            <a:off x="411480" y="4754880"/>
            <a:ext cx="5623560" cy="1280160"/>
          </a:xfrm>
          <a:prstGeom prst="rect">
            <a:avLst/>
          </a:prstGeom>
          <a:noFill/>
        </p:spPr>
        <p:txBody>
          <a:bodyPr wrap="square">
            <a:spAutoFit/>
          </a:bodyPr>
          <a:lstStyle/>
          <a:p>
            <a:pPr algn="l"/>
            <a:r>
              <a:rPr sz="1300" b="0">
                <a:solidFill>
                  <a:srgbClr val="5B6461"/>
                </a:solidFill>
                <a:latin typeface="Calibri"/>
              </a:rPr>
              <a:t>Grounded Ask tab — suggested questions, answers only from retrieved evidence.</a:t>
            </a:r>
          </a:p>
        </p:txBody>
      </p:sp>
      <p:sp>
        <p:nvSpPr>
          <p:cNvPr id="8" name="TextBox 7"/>
          <p:cNvSpPr txBox="1"/>
          <p:nvPr/>
        </p:nvSpPr>
        <p:spPr>
          <a:xfrm>
            <a:off x="6172200" y="4754880"/>
            <a:ext cx="5623560" cy="1280160"/>
          </a:xfrm>
          <a:prstGeom prst="rect">
            <a:avLst/>
          </a:prstGeom>
          <a:noFill/>
        </p:spPr>
        <p:txBody>
          <a:bodyPr wrap="square">
            <a:spAutoFit/>
          </a:bodyPr>
          <a:lstStyle/>
          <a:p>
            <a:pPr algn="l"/>
            <a:r>
              <a:rPr sz="1300" b="0">
                <a:solidFill>
                  <a:srgbClr val="5B6461"/>
                </a:solidFill>
                <a:latin typeface="Calibri"/>
              </a:rPr>
              <a:t>ILBC network profile — 13 campuses, 150 claim groups, 5 conflicts flagged.</a:t>
            </a:r>
          </a:p>
        </p:txBody>
      </p:sp>
      <p:sp>
        <p:nvSpPr>
          <p:cNvPr id="9" name="TextBox 8"/>
          <p:cNvSpPr txBox="1"/>
          <p:nvPr/>
        </p:nvSpPr>
        <p:spPr>
          <a:xfrm>
            <a:off x="457200" y="6510528"/>
            <a:ext cx="9144000" cy="256032"/>
          </a:xfrm>
          <a:prstGeom prst="rect">
            <a:avLst/>
          </a:prstGeom>
          <a:noFill/>
        </p:spPr>
        <p:txBody>
          <a:bodyPr wrap="square">
            <a:spAutoFit/>
          </a:bodyPr>
          <a:lstStyle/>
          <a:p>
            <a:pPr algn="l"/>
            <a:r>
              <a:rPr sz="1100" b="0">
                <a:solidFill>
                  <a:srgbClr val="B8C0C8"/>
                </a:solidFill>
                <a:latin typeface="Calibri"/>
              </a:rPr>
              <a:t>SchoolLens  ·  STI College AI Youth Competition 2026</a:t>
            </a:r>
          </a:p>
        </p:txBody>
      </p:sp>
      <p:sp>
        <p:nvSpPr>
          <p:cNvPr id="10" name="TextBox 9"/>
          <p:cNvSpPr txBox="1"/>
          <p:nvPr/>
        </p:nvSpPr>
        <p:spPr>
          <a:xfrm>
            <a:off x="10424160" y="6510528"/>
            <a:ext cx="1280160" cy="256032"/>
          </a:xfrm>
          <a:prstGeom prst="rect">
            <a:avLst/>
          </a:prstGeom>
          <a:noFill/>
        </p:spPr>
        <p:txBody>
          <a:bodyPr wrap="square">
            <a:spAutoFit/>
          </a:bodyPr>
          <a:lstStyle/>
          <a:p>
            <a:pPr algn="r"/>
            <a:r>
              <a:rPr sz="1100" b="0">
                <a:solidFill>
                  <a:srgbClr val="B8C0C8"/>
                </a:solidFill>
                <a:latin typeface="Calibri"/>
              </a:rPr>
              <a:t>9  /  16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307777"/>
          </a:xfrm>
          <a:prstGeom prst="rect">
            <a:avLst/>
          </a:prstGeom>
          <a:noFill/>
        </p:spPr>
        <p:txBody>
          <a:bodyPr wrap="square">
            <a:spAutoFit/>
          </a:bodyPr>
          <a:lstStyle/>
          <a:p>
            <a:pPr algn="l"/>
            <a:r>
              <a:rPr sz="1400" b="1" dirty="0">
                <a:solidFill>
                  <a:srgbClr val="2F6F62"/>
                </a:solidFill>
                <a:latin typeface="Calibri"/>
              </a:rPr>
              <a:t>Sustainability</a:t>
            </a:r>
            <a:endParaRPr sz="1200" b="1" dirty="0">
              <a:solidFill>
                <a:srgbClr val="2F6F62"/>
              </a:solidFill>
              <a:latin typeface="Calibri"/>
            </a:endParaRPr>
          </a:p>
        </p:txBody>
      </p:sp>
      <p:sp>
        <p:nvSpPr>
          <p:cNvPr id="4" name="TextBox 3"/>
          <p:cNvSpPr txBox="1"/>
          <p:nvPr/>
        </p:nvSpPr>
        <p:spPr>
          <a:xfrm>
            <a:off x="502920" y="475488"/>
            <a:ext cx="11155680" cy="640080"/>
          </a:xfrm>
          <a:prstGeom prst="rect">
            <a:avLst/>
          </a:prstGeom>
          <a:noFill/>
        </p:spPr>
        <p:txBody>
          <a:bodyPr wrap="square">
            <a:spAutoFit/>
          </a:bodyPr>
          <a:lstStyle/>
          <a:p>
            <a:pPr algn="l"/>
            <a:r>
              <a:rPr sz="2800" b="1">
                <a:solidFill>
                  <a:srgbClr val="1B2A4A"/>
                </a:solidFill>
                <a:latin typeface="Calibri"/>
              </a:rPr>
              <a:t>Ultra-lean unit economics and ethical revenue</a:t>
            </a:r>
          </a:p>
        </p:txBody>
      </p:sp>
      <p:sp>
        <p:nvSpPr>
          <p:cNvPr id="5" name="Rounded Rectangle 4"/>
          <p:cNvSpPr/>
          <p:nvPr/>
        </p:nvSpPr>
        <p:spPr>
          <a:xfrm>
            <a:off x="457200" y="1234440"/>
            <a:ext cx="5394960" cy="493776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371600"/>
            <a:ext cx="4937760" cy="365760"/>
          </a:xfrm>
          <a:prstGeom prst="rect">
            <a:avLst/>
          </a:prstGeom>
          <a:noFill/>
        </p:spPr>
        <p:txBody>
          <a:bodyPr wrap="square">
            <a:spAutoFit/>
          </a:bodyPr>
          <a:lstStyle/>
          <a:p>
            <a:pPr algn="l"/>
            <a:r>
              <a:rPr sz="1400" b="1">
                <a:solidFill>
                  <a:srgbClr val="5B6461"/>
                </a:solidFill>
                <a:latin typeface="Calibri"/>
              </a:rPr>
              <a:t>Monthly cost for all 252 schools</a:t>
            </a:r>
          </a:p>
        </p:txBody>
      </p:sp>
      <p:sp>
        <p:nvSpPr>
          <p:cNvPr id="7" name="TextBox 6"/>
          <p:cNvSpPr txBox="1"/>
          <p:nvPr/>
        </p:nvSpPr>
        <p:spPr>
          <a:xfrm>
            <a:off x="685800" y="1737360"/>
            <a:ext cx="4937760" cy="640080"/>
          </a:xfrm>
          <a:prstGeom prst="rect">
            <a:avLst/>
          </a:prstGeom>
          <a:noFill/>
        </p:spPr>
        <p:txBody>
          <a:bodyPr wrap="square">
            <a:spAutoFit/>
          </a:bodyPr>
          <a:lstStyle/>
          <a:p>
            <a:pPr algn="l"/>
            <a:r>
              <a:rPr sz="3200" b="1">
                <a:solidFill>
                  <a:srgbClr val="2F6F62"/>
                </a:solidFill>
                <a:latin typeface="Calibri"/>
              </a:rPr>
              <a:t>~$14 / month</a:t>
            </a:r>
          </a:p>
        </p:txBody>
      </p:sp>
      <p:sp>
        <p:nvSpPr>
          <p:cNvPr id="8" name="TextBox 7"/>
          <p:cNvSpPr txBox="1"/>
          <p:nvPr/>
        </p:nvSpPr>
        <p:spPr>
          <a:xfrm>
            <a:off x="685800" y="2468880"/>
            <a:ext cx="3474720" cy="292608"/>
          </a:xfrm>
          <a:prstGeom prst="rect">
            <a:avLst/>
          </a:prstGeom>
          <a:noFill/>
        </p:spPr>
        <p:txBody>
          <a:bodyPr wrap="square">
            <a:spAutoFit/>
          </a:bodyPr>
          <a:lstStyle/>
          <a:p>
            <a:pPr algn="l"/>
            <a:r>
              <a:rPr sz="1400" b="0">
                <a:solidFill>
                  <a:srgbClr val="1F2422"/>
                </a:solidFill>
                <a:latin typeface="Calibri"/>
              </a:rPr>
              <a:t>Vercel + Supabase</a:t>
            </a:r>
          </a:p>
        </p:txBody>
      </p:sp>
      <p:sp>
        <p:nvSpPr>
          <p:cNvPr id="9" name="TextBox 8"/>
          <p:cNvSpPr txBox="1"/>
          <p:nvPr/>
        </p:nvSpPr>
        <p:spPr>
          <a:xfrm>
            <a:off x="4114800" y="2468880"/>
            <a:ext cx="1371600" cy="292608"/>
          </a:xfrm>
          <a:prstGeom prst="rect">
            <a:avLst/>
          </a:prstGeom>
          <a:noFill/>
        </p:spPr>
        <p:txBody>
          <a:bodyPr wrap="square">
            <a:spAutoFit/>
          </a:bodyPr>
          <a:lstStyle/>
          <a:p>
            <a:pPr algn="r"/>
            <a:r>
              <a:rPr sz="1400" b="1">
                <a:solidFill>
                  <a:srgbClr val="1B2A4A"/>
                </a:solidFill>
                <a:latin typeface="Calibri"/>
              </a:rPr>
              <a:t>$0</a:t>
            </a:r>
          </a:p>
        </p:txBody>
      </p:sp>
      <p:sp>
        <p:nvSpPr>
          <p:cNvPr id="10" name="TextBox 9"/>
          <p:cNvSpPr txBox="1"/>
          <p:nvPr/>
        </p:nvSpPr>
        <p:spPr>
          <a:xfrm>
            <a:off x="685800" y="2816352"/>
            <a:ext cx="3474720" cy="292608"/>
          </a:xfrm>
          <a:prstGeom prst="rect">
            <a:avLst/>
          </a:prstGeom>
          <a:noFill/>
        </p:spPr>
        <p:txBody>
          <a:bodyPr wrap="square">
            <a:spAutoFit/>
          </a:bodyPr>
          <a:lstStyle/>
          <a:p>
            <a:pPr algn="l"/>
            <a:r>
              <a:rPr sz="1400" b="0">
                <a:solidFill>
                  <a:srgbClr val="1F2422"/>
                </a:solidFill>
                <a:latin typeface="Calibri"/>
              </a:rPr>
              <a:t>Crawler VPS (n8n)</a:t>
            </a:r>
          </a:p>
        </p:txBody>
      </p:sp>
      <p:sp>
        <p:nvSpPr>
          <p:cNvPr id="11" name="TextBox 10"/>
          <p:cNvSpPr txBox="1"/>
          <p:nvPr/>
        </p:nvSpPr>
        <p:spPr>
          <a:xfrm>
            <a:off x="4114800" y="2816352"/>
            <a:ext cx="1371600" cy="292608"/>
          </a:xfrm>
          <a:prstGeom prst="rect">
            <a:avLst/>
          </a:prstGeom>
          <a:noFill/>
        </p:spPr>
        <p:txBody>
          <a:bodyPr wrap="square">
            <a:spAutoFit/>
          </a:bodyPr>
          <a:lstStyle/>
          <a:p>
            <a:pPr algn="r"/>
            <a:r>
              <a:rPr sz="1400" b="1">
                <a:solidFill>
                  <a:srgbClr val="1B2A4A"/>
                </a:solidFill>
                <a:latin typeface="Calibri"/>
              </a:rPr>
              <a:t>$4</a:t>
            </a:r>
          </a:p>
        </p:txBody>
      </p:sp>
      <p:sp>
        <p:nvSpPr>
          <p:cNvPr id="12" name="TextBox 11"/>
          <p:cNvSpPr txBox="1"/>
          <p:nvPr/>
        </p:nvSpPr>
        <p:spPr>
          <a:xfrm>
            <a:off x="685800" y="3163824"/>
            <a:ext cx="3474720" cy="292608"/>
          </a:xfrm>
          <a:prstGeom prst="rect">
            <a:avLst/>
          </a:prstGeom>
          <a:noFill/>
        </p:spPr>
        <p:txBody>
          <a:bodyPr wrap="square">
            <a:spAutoFit/>
          </a:bodyPr>
          <a:lstStyle/>
          <a:p>
            <a:pPr algn="l"/>
            <a:r>
              <a:rPr sz="1400" b="0">
                <a:solidFill>
                  <a:srgbClr val="1F2422"/>
                </a:solidFill>
                <a:latin typeface="Calibri"/>
              </a:rPr>
              <a:t>Gemini Flash-Lite extract</a:t>
            </a:r>
          </a:p>
        </p:txBody>
      </p:sp>
      <p:sp>
        <p:nvSpPr>
          <p:cNvPr id="13" name="TextBox 12"/>
          <p:cNvSpPr txBox="1"/>
          <p:nvPr/>
        </p:nvSpPr>
        <p:spPr>
          <a:xfrm>
            <a:off x="4114800" y="3163824"/>
            <a:ext cx="1371600" cy="292608"/>
          </a:xfrm>
          <a:prstGeom prst="rect">
            <a:avLst/>
          </a:prstGeom>
          <a:noFill/>
        </p:spPr>
        <p:txBody>
          <a:bodyPr wrap="square">
            <a:spAutoFit/>
          </a:bodyPr>
          <a:lstStyle/>
          <a:p>
            <a:pPr algn="r"/>
            <a:r>
              <a:rPr sz="1400" b="1">
                <a:solidFill>
                  <a:srgbClr val="1B2A4A"/>
                </a:solidFill>
                <a:latin typeface="Calibri"/>
              </a:rPr>
              <a:t>$1.50</a:t>
            </a:r>
          </a:p>
        </p:txBody>
      </p:sp>
      <p:sp>
        <p:nvSpPr>
          <p:cNvPr id="14" name="TextBox 13"/>
          <p:cNvSpPr txBox="1"/>
          <p:nvPr/>
        </p:nvSpPr>
        <p:spPr>
          <a:xfrm>
            <a:off x="685800" y="3511296"/>
            <a:ext cx="3474720" cy="292608"/>
          </a:xfrm>
          <a:prstGeom prst="rect">
            <a:avLst/>
          </a:prstGeom>
          <a:noFill/>
        </p:spPr>
        <p:txBody>
          <a:bodyPr wrap="square">
            <a:spAutoFit/>
          </a:bodyPr>
          <a:lstStyle/>
          <a:p>
            <a:pPr algn="l"/>
            <a:r>
              <a:rPr sz="1400" b="0">
                <a:solidFill>
                  <a:srgbClr val="1F2422"/>
                </a:solidFill>
                <a:latin typeface="Calibri"/>
              </a:rPr>
              <a:t>Claude reconcile (batch)</a:t>
            </a:r>
          </a:p>
        </p:txBody>
      </p:sp>
      <p:sp>
        <p:nvSpPr>
          <p:cNvPr id="15" name="TextBox 14"/>
          <p:cNvSpPr txBox="1"/>
          <p:nvPr/>
        </p:nvSpPr>
        <p:spPr>
          <a:xfrm>
            <a:off x="4114800" y="3511296"/>
            <a:ext cx="1371600" cy="292608"/>
          </a:xfrm>
          <a:prstGeom prst="rect">
            <a:avLst/>
          </a:prstGeom>
          <a:noFill/>
        </p:spPr>
        <p:txBody>
          <a:bodyPr wrap="square">
            <a:spAutoFit/>
          </a:bodyPr>
          <a:lstStyle/>
          <a:p>
            <a:pPr algn="r"/>
            <a:r>
              <a:rPr sz="1400" b="1">
                <a:solidFill>
                  <a:srgbClr val="1B2A4A"/>
                </a:solidFill>
                <a:latin typeface="Calibri"/>
              </a:rPr>
              <a:t>$2.50</a:t>
            </a:r>
          </a:p>
        </p:txBody>
      </p:sp>
      <p:sp>
        <p:nvSpPr>
          <p:cNvPr id="16" name="TextBox 15"/>
          <p:cNvSpPr txBox="1"/>
          <p:nvPr/>
        </p:nvSpPr>
        <p:spPr>
          <a:xfrm>
            <a:off x="685800" y="3858768"/>
            <a:ext cx="3474720" cy="292608"/>
          </a:xfrm>
          <a:prstGeom prst="rect">
            <a:avLst/>
          </a:prstGeom>
          <a:noFill/>
        </p:spPr>
        <p:txBody>
          <a:bodyPr wrap="square">
            <a:spAutoFit/>
          </a:bodyPr>
          <a:lstStyle/>
          <a:p>
            <a:pPr algn="l"/>
            <a:r>
              <a:rPr sz="1400" b="0">
                <a:solidFill>
                  <a:srgbClr val="1F2422"/>
                </a:solidFill>
                <a:latin typeface="Calibri"/>
              </a:rPr>
              <a:t>Grounded Q&amp;A</a:t>
            </a:r>
          </a:p>
        </p:txBody>
      </p:sp>
      <p:sp>
        <p:nvSpPr>
          <p:cNvPr id="17" name="TextBox 16"/>
          <p:cNvSpPr txBox="1"/>
          <p:nvPr/>
        </p:nvSpPr>
        <p:spPr>
          <a:xfrm>
            <a:off x="4114800" y="3858768"/>
            <a:ext cx="1371600" cy="292608"/>
          </a:xfrm>
          <a:prstGeom prst="rect">
            <a:avLst/>
          </a:prstGeom>
          <a:noFill/>
        </p:spPr>
        <p:txBody>
          <a:bodyPr wrap="square">
            <a:spAutoFit/>
          </a:bodyPr>
          <a:lstStyle/>
          <a:p>
            <a:pPr algn="r"/>
            <a:r>
              <a:rPr sz="1400" b="1">
                <a:solidFill>
                  <a:srgbClr val="1B2A4A"/>
                </a:solidFill>
                <a:latin typeface="Calibri"/>
              </a:rPr>
              <a:t>$3</a:t>
            </a:r>
          </a:p>
        </p:txBody>
      </p:sp>
      <p:sp>
        <p:nvSpPr>
          <p:cNvPr id="18" name="TextBox 17"/>
          <p:cNvSpPr txBox="1"/>
          <p:nvPr/>
        </p:nvSpPr>
        <p:spPr>
          <a:xfrm>
            <a:off x="685800" y="4206240"/>
            <a:ext cx="3474720" cy="292608"/>
          </a:xfrm>
          <a:prstGeom prst="rect">
            <a:avLst/>
          </a:prstGeom>
          <a:noFill/>
        </p:spPr>
        <p:txBody>
          <a:bodyPr wrap="square">
            <a:spAutoFit/>
          </a:bodyPr>
          <a:lstStyle/>
          <a:p>
            <a:pPr algn="l"/>
            <a:r>
              <a:rPr sz="1400" b="0">
                <a:solidFill>
                  <a:srgbClr val="1F2422"/>
                </a:solidFill>
                <a:latin typeface="Calibri"/>
              </a:rPr>
              <a:t>Apify social crawl</a:t>
            </a:r>
          </a:p>
        </p:txBody>
      </p:sp>
      <p:sp>
        <p:nvSpPr>
          <p:cNvPr id="19" name="TextBox 18"/>
          <p:cNvSpPr txBox="1"/>
          <p:nvPr/>
        </p:nvSpPr>
        <p:spPr>
          <a:xfrm>
            <a:off x="4114800" y="4206240"/>
            <a:ext cx="1371600" cy="292608"/>
          </a:xfrm>
          <a:prstGeom prst="rect">
            <a:avLst/>
          </a:prstGeom>
          <a:noFill/>
        </p:spPr>
        <p:txBody>
          <a:bodyPr wrap="square">
            <a:spAutoFit/>
          </a:bodyPr>
          <a:lstStyle/>
          <a:p>
            <a:pPr algn="r"/>
            <a:r>
              <a:rPr sz="1400" b="1">
                <a:solidFill>
                  <a:srgbClr val="1B2A4A"/>
                </a:solidFill>
                <a:latin typeface="Calibri"/>
              </a:rPr>
              <a:t>$3</a:t>
            </a:r>
          </a:p>
        </p:txBody>
      </p:sp>
      <p:sp>
        <p:nvSpPr>
          <p:cNvPr id="20" name="TextBox 19"/>
          <p:cNvSpPr txBox="1"/>
          <p:nvPr/>
        </p:nvSpPr>
        <p:spPr>
          <a:xfrm>
            <a:off x="685800" y="4709160"/>
            <a:ext cx="4937760" cy="640080"/>
          </a:xfrm>
          <a:prstGeom prst="rect">
            <a:avLst/>
          </a:prstGeom>
          <a:noFill/>
        </p:spPr>
        <p:txBody>
          <a:bodyPr wrap="square">
            <a:spAutoFit/>
          </a:bodyPr>
          <a:lstStyle/>
          <a:p>
            <a:pPr algn="l"/>
            <a:r>
              <a:rPr sz="1300" b="0">
                <a:solidFill>
                  <a:srgbClr val="5B6461"/>
                </a:solidFill>
                <a:latin typeface="Calibri"/>
              </a:rPr>
              <a:t>Comfortably inside the $20/month youth budget. Change-detection skips unchanged sites.</a:t>
            </a:r>
          </a:p>
        </p:txBody>
      </p:sp>
      <p:sp>
        <p:nvSpPr>
          <p:cNvPr id="21" name="Rounded Rectangle 20"/>
          <p:cNvSpPr/>
          <p:nvPr/>
        </p:nvSpPr>
        <p:spPr>
          <a:xfrm>
            <a:off x="6080760" y="1234440"/>
            <a:ext cx="5623560" cy="324612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09360" y="1371600"/>
            <a:ext cx="5212080" cy="2971800"/>
          </a:xfrm>
          <a:prstGeom prst="rect">
            <a:avLst/>
          </a:prstGeom>
          <a:noFill/>
        </p:spPr>
        <p:txBody>
          <a:bodyPr wrap="square">
            <a:spAutoFit/>
          </a:bodyPr>
          <a:lstStyle/>
          <a:p>
            <a:pPr algn="l">
              <a:spcAft>
                <a:spcPts val="800"/>
              </a:spcAft>
            </a:pPr>
            <a:r>
              <a:rPr sz="1400" b="1">
                <a:solidFill>
                  <a:srgbClr val="5B6461"/>
                </a:solidFill>
                <a:latin typeface="Calibri"/>
              </a:rPr>
              <a:t>Three ethical revenue streams</a:t>
            </a:r>
          </a:p>
          <a:p>
            <a:pPr algn="l">
              <a:spcAft>
                <a:spcPts val="400"/>
              </a:spcAft>
            </a:pPr>
            <a:r>
              <a:rPr sz="1600" b="1">
                <a:solidFill>
                  <a:srgbClr val="1B2A4A"/>
                </a:solidFill>
                <a:latin typeface="Calibri"/>
              </a:rPr>
              <a:t>1. Verified school-admin SaaS  ·  $15–$25 / mo</a:t>
            </a:r>
          </a:p>
          <a:p>
            <a:pPr algn="l">
              <a:spcAft>
                <a:spcPts val="1000"/>
              </a:spcAft>
            </a:pPr>
            <a:r>
              <a:rPr sz="1400" b="0">
                <a:solidFill>
                  <a:srgbClr val="1F2422"/>
                </a:solidFill>
                <a:latin typeface="Calibri"/>
              </a:rPr>
              <a:t>Official uploads, dispute alerts, verified badge.</a:t>
            </a:r>
          </a:p>
          <a:p>
            <a:pPr algn="l">
              <a:spcAft>
                <a:spcPts val="400"/>
              </a:spcAft>
            </a:pPr>
            <a:r>
              <a:rPr sz="1600" b="1">
                <a:solidFill>
                  <a:srgbClr val="1B2A4A"/>
                </a:solidFill>
                <a:latin typeface="Calibri"/>
              </a:rPr>
              <a:t>2. Sponsored open-day listings  ·  $20 / event</a:t>
            </a:r>
          </a:p>
          <a:p>
            <a:pPr algn="l">
              <a:spcAft>
                <a:spcPts val="1000"/>
              </a:spcAft>
            </a:pPr>
            <a:r>
              <a:rPr sz="1400" b="0">
                <a:solidFill>
                  <a:srgbClr val="1F2422"/>
                </a:solidFill>
                <a:latin typeface="Calibri"/>
              </a:rPr>
              <a:t>Clearly labelled. Never mixed into confidence.</a:t>
            </a:r>
          </a:p>
          <a:p>
            <a:pPr algn="l">
              <a:spcAft>
                <a:spcPts val="400"/>
              </a:spcAft>
            </a:pPr>
            <a:r>
              <a:rPr sz="1600" b="1">
                <a:solidFill>
                  <a:srgbClr val="1B2A4A"/>
                </a:solidFill>
                <a:latin typeface="Calibri"/>
              </a:rPr>
              <a:t>3. Aggregated education trend reports</a:t>
            </a:r>
          </a:p>
          <a:p>
            <a:pPr algn="l">
              <a:spcAft>
                <a:spcPts val="0"/>
              </a:spcAft>
            </a:pPr>
            <a:r>
              <a:rPr sz="1400" b="0">
                <a:solidFill>
                  <a:srgbClr val="1F2422"/>
                </a:solidFill>
                <a:latin typeface="Calibri"/>
              </a:rPr>
              <a:t>Anonymized demand insights for NGOs and researchers.</a:t>
            </a:r>
          </a:p>
        </p:txBody>
      </p:sp>
      <p:sp>
        <p:nvSpPr>
          <p:cNvPr id="23" name="Rounded Rectangle 22"/>
          <p:cNvSpPr/>
          <p:nvPr/>
        </p:nvSpPr>
        <p:spPr>
          <a:xfrm>
            <a:off x="6080760" y="4617720"/>
            <a:ext cx="5623560" cy="1554480"/>
          </a:xfrm>
          <a:prstGeom prst="roundRect">
            <a:avLst>
              <a:gd name="adj" fmla="val 8000"/>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09360" y="4754880"/>
            <a:ext cx="5212080" cy="1280160"/>
          </a:xfrm>
          <a:prstGeom prst="rect">
            <a:avLst/>
          </a:prstGeom>
          <a:noFill/>
        </p:spPr>
        <p:txBody>
          <a:bodyPr wrap="square">
            <a:spAutoFit/>
          </a:bodyPr>
          <a:lstStyle/>
          <a:p>
            <a:pPr algn="l"/>
            <a:r>
              <a:rPr sz="1500" b="1">
                <a:solidFill>
                  <a:srgbClr val="FFFFFF"/>
                </a:solidFill>
                <a:latin typeface="Calibri"/>
              </a:rPr>
              <a:t>Integrity charter: schools cannot buy a higher confidence score, hide a contradiction, or pay to rank. The ledger stays independent.</a:t>
            </a:r>
          </a:p>
        </p:txBody>
      </p:sp>
      <p:sp>
        <p:nvSpPr>
          <p:cNvPr id="25" name="TextBox 24"/>
          <p:cNvSpPr txBox="1"/>
          <p:nvPr/>
        </p:nvSpPr>
        <p:spPr>
          <a:xfrm>
            <a:off x="457200" y="6510528"/>
            <a:ext cx="9144000" cy="256032"/>
          </a:xfrm>
          <a:prstGeom prst="rect">
            <a:avLst/>
          </a:prstGeom>
          <a:noFill/>
        </p:spPr>
        <p:txBody>
          <a:bodyPr wrap="square">
            <a:spAutoFit/>
          </a:bodyPr>
          <a:lstStyle/>
          <a:p>
            <a:pPr algn="l"/>
            <a:r>
              <a:rPr sz="1100" b="0">
                <a:solidFill>
                  <a:srgbClr val="B8C0C8"/>
                </a:solidFill>
                <a:latin typeface="Calibri"/>
              </a:rPr>
              <a:t>SchoolLens  ·  STI College AI Youth Competition 2026</a:t>
            </a:r>
          </a:p>
        </p:txBody>
      </p:sp>
      <p:sp>
        <p:nvSpPr>
          <p:cNvPr id="26" name="TextBox 25"/>
          <p:cNvSpPr txBox="1"/>
          <p:nvPr/>
        </p:nvSpPr>
        <p:spPr>
          <a:xfrm>
            <a:off x="10424160" y="6510528"/>
            <a:ext cx="1280160" cy="256032"/>
          </a:xfrm>
          <a:prstGeom prst="rect">
            <a:avLst/>
          </a:prstGeom>
          <a:noFill/>
        </p:spPr>
        <p:txBody>
          <a:bodyPr wrap="square">
            <a:spAutoFit/>
          </a:bodyPr>
          <a:lstStyle/>
          <a:p>
            <a:pPr algn="r"/>
            <a:r>
              <a:rPr sz="1100" b="0">
                <a:solidFill>
                  <a:srgbClr val="B8C0C8"/>
                </a:solidFill>
                <a:latin typeface="Calibri"/>
              </a:rPr>
              <a:t>10  /  16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307777"/>
          </a:xfrm>
          <a:prstGeom prst="rect">
            <a:avLst/>
          </a:prstGeom>
          <a:noFill/>
        </p:spPr>
        <p:txBody>
          <a:bodyPr wrap="square">
            <a:spAutoFit/>
          </a:bodyPr>
          <a:lstStyle/>
          <a:p>
            <a:pPr algn="l"/>
            <a:r>
              <a:rPr sz="1400" b="1" dirty="0">
                <a:solidFill>
                  <a:srgbClr val="2F6F62"/>
                </a:solidFill>
                <a:latin typeface="Calibri"/>
              </a:rPr>
              <a:t>Social impact</a:t>
            </a:r>
          </a:p>
        </p:txBody>
      </p:sp>
      <p:sp>
        <p:nvSpPr>
          <p:cNvPr id="4" name="TextBox 3"/>
          <p:cNvSpPr txBox="1"/>
          <p:nvPr/>
        </p:nvSpPr>
        <p:spPr>
          <a:xfrm>
            <a:off x="502920" y="475488"/>
            <a:ext cx="11155680" cy="640080"/>
          </a:xfrm>
          <a:prstGeom prst="rect">
            <a:avLst/>
          </a:prstGeom>
          <a:noFill/>
        </p:spPr>
        <p:txBody>
          <a:bodyPr wrap="square">
            <a:spAutoFit/>
          </a:bodyPr>
          <a:lstStyle/>
          <a:p>
            <a:pPr algn="l"/>
            <a:r>
              <a:rPr sz="2800" b="1">
                <a:solidFill>
                  <a:srgbClr val="1B2A4A"/>
                </a:solidFill>
                <a:latin typeface="Calibri"/>
              </a:rPr>
              <a:t>Advancing UN Sustainable Development Goals</a:t>
            </a:r>
          </a:p>
        </p:txBody>
      </p:sp>
      <p:sp>
        <p:nvSpPr>
          <p:cNvPr id="5" name="Rounded Rectangle 4"/>
          <p:cNvSpPr/>
          <p:nvPr/>
        </p:nvSpPr>
        <p:spPr>
          <a:xfrm>
            <a:off x="457200" y="1280160"/>
            <a:ext cx="3611880" cy="484632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463040"/>
            <a:ext cx="3154680" cy="365760"/>
          </a:xfrm>
          <a:prstGeom prst="rect">
            <a:avLst/>
          </a:prstGeom>
          <a:noFill/>
        </p:spPr>
        <p:txBody>
          <a:bodyPr wrap="square">
            <a:spAutoFit/>
          </a:bodyPr>
          <a:lstStyle/>
          <a:p>
            <a:pPr algn="l"/>
            <a:r>
              <a:rPr sz="1400" b="1">
                <a:solidFill>
                  <a:srgbClr val="2F6F62"/>
                </a:solidFill>
                <a:latin typeface="Calibri"/>
              </a:rPr>
              <a:t>SDG 4</a:t>
            </a:r>
          </a:p>
        </p:txBody>
      </p:sp>
      <p:sp>
        <p:nvSpPr>
          <p:cNvPr id="7" name="TextBox 6"/>
          <p:cNvSpPr txBox="1"/>
          <p:nvPr/>
        </p:nvSpPr>
        <p:spPr>
          <a:xfrm>
            <a:off x="685800" y="1920240"/>
            <a:ext cx="3154680" cy="914400"/>
          </a:xfrm>
          <a:prstGeom prst="rect">
            <a:avLst/>
          </a:prstGeom>
          <a:noFill/>
        </p:spPr>
        <p:txBody>
          <a:bodyPr wrap="square">
            <a:spAutoFit/>
          </a:bodyPr>
          <a:lstStyle/>
          <a:p>
            <a:pPr algn="l"/>
            <a:r>
              <a:rPr sz="2200" b="1">
                <a:solidFill>
                  <a:srgbClr val="1B2A4A"/>
                </a:solidFill>
                <a:latin typeface="Calibri"/>
              </a:rPr>
              <a:t>Quality Education</a:t>
            </a:r>
          </a:p>
        </p:txBody>
      </p:sp>
      <p:sp>
        <p:nvSpPr>
          <p:cNvPr id="8" name="TextBox 7"/>
          <p:cNvSpPr txBox="1"/>
          <p:nvPr/>
        </p:nvSpPr>
        <p:spPr>
          <a:xfrm>
            <a:off x="685800" y="2971800"/>
            <a:ext cx="3154680" cy="2834640"/>
          </a:xfrm>
          <a:prstGeom prst="rect">
            <a:avLst/>
          </a:prstGeom>
          <a:noFill/>
        </p:spPr>
        <p:txBody>
          <a:bodyPr wrap="square">
            <a:spAutoFit/>
          </a:bodyPr>
          <a:lstStyle/>
          <a:p>
            <a:pPr algn="l"/>
            <a:r>
              <a:rPr sz="1600" b="0">
                <a:solidFill>
                  <a:srgbClr val="1F2422"/>
                </a:solidFill>
                <a:latin typeface="Calibri"/>
              </a:rPr>
              <a:t>Match students to accredited, recognized schools so diplomas remain valid. Surface curriculum mismatch and unaccredited scams before families pay.</a:t>
            </a:r>
          </a:p>
        </p:txBody>
      </p:sp>
      <p:sp>
        <p:nvSpPr>
          <p:cNvPr id="9" name="Rounded Rectangle 8"/>
          <p:cNvSpPr/>
          <p:nvPr/>
        </p:nvSpPr>
        <p:spPr>
          <a:xfrm>
            <a:off x="4297680" y="1280160"/>
            <a:ext cx="3611880" cy="484632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26280" y="1463040"/>
            <a:ext cx="3154680" cy="365760"/>
          </a:xfrm>
          <a:prstGeom prst="rect">
            <a:avLst/>
          </a:prstGeom>
          <a:noFill/>
        </p:spPr>
        <p:txBody>
          <a:bodyPr wrap="square">
            <a:spAutoFit/>
          </a:bodyPr>
          <a:lstStyle/>
          <a:p>
            <a:pPr algn="l"/>
            <a:r>
              <a:rPr sz="1400" b="1">
                <a:solidFill>
                  <a:srgbClr val="2F6F62"/>
                </a:solidFill>
                <a:latin typeface="Calibri"/>
              </a:rPr>
              <a:t>SDG 10</a:t>
            </a:r>
          </a:p>
        </p:txBody>
      </p:sp>
      <p:sp>
        <p:nvSpPr>
          <p:cNvPr id="11" name="TextBox 10"/>
          <p:cNvSpPr txBox="1"/>
          <p:nvPr/>
        </p:nvSpPr>
        <p:spPr>
          <a:xfrm>
            <a:off x="4526280" y="1920240"/>
            <a:ext cx="3154680" cy="914400"/>
          </a:xfrm>
          <a:prstGeom prst="rect">
            <a:avLst/>
          </a:prstGeom>
          <a:noFill/>
        </p:spPr>
        <p:txBody>
          <a:bodyPr wrap="square">
            <a:spAutoFit/>
          </a:bodyPr>
          <a:lstStyle/>
          <a:p>
            <a:pPr algn="l"/>
            <a:r>
              <a:rPr sz="2200" b="1">
                <a:solidFill>
                  <a:srgbClr val="1B2A4A"/>
                </a:solidFill>
                <a:latin typeface="Calibri"/>
              </a:rPr>
              <a:t>Reduced Inequalities</a:t>
            </a:r>
          </a:p>
        </p:txBody>
      </p:sp>
      <p:sp>
        <p:nvSpPr>
          <p:cNvPr id="12" name="TextBox 11"/>
          <p:cNvSpPr txBox="1"/>
          <p:nvPr/>
        </p:nvSpPr>
        <p:spPr>
          <a:xfrm>
            <a:off x="4526280" y="2971800"/>
            <a:ext cx="3154680" cy="2834640"/>
          </a:xfrm>
          <a:prstGeom prst="rect">
            <a:avLst/>
          </a:prstGeom>
          <a:noFill/>
        </p:spPr>
        <p:txBody>
          <a:bodyPr wrap="square">
            <a:spAutoFit/>
          </a:bodyPr>
          <a:lstStyle/>
          <a:p>
            <a:pPr algn="l"/>
            <a:r>
              <a:rPr sz="1600" b="0">
                <a:solidFill>
                  <a:srgbClr val="1F2422"/>
                </a:solidFill>
                <a:latin typeface="Calibri"/>
              </a:rPr>
              <a:t>Working-class families get the same clear, free evidence that wealthy parents currently buy through consultants and private networks.</a:t>
            </a:r>
          </a:p>
        </p:txBody>
      </p:sp>
      <p:sp>
        <p:nvSpPr>
          <p:cNvPr id="13" name="Rounded Rectangle 12"/>
          <p:cNvSpPr/>
          <p:nvPr/>
        </p:nvSpPr>
        <p:spPr>
          <a:xfrm>
            <a:off x="8138160" y="1280160"/>
            <a:ext cx="3611880" cy="4846320"/>
          </a:xfrm>
          <a:prstGeom prst="roundRect">
            <a:avLst>
              <a:gd name="adj" fmla="val 8000"/>
            </a:avLst>
          </a:prstGeom>
          <a:solidFill>
            <a:srgbClr val="FFFFFF"/>
          </a:solidFill>
          <a:ln w="12700">
            <a:solidFill>
              <a:srgbClr val="D8DCD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66760" y="1463040"/>
            <a:ext cx="3154680" cy="365760"/>
          </a:xfrm>
          <a:prstGeom prst="rect">
            <a:avLst/>
          </a:prstGeom>
          <a:noFill/>
        </p:spPr>
        <p:txBody>
          <a:bodyPr wrap="square">
            <a:spAutoFit/>
          </a:bodyPr>
          <a:lstStyle/>
          <a:p>
            <a:pPr algn="l"/>
            <a:r>
              <a:rPr sz="1400" b="1">
                <a:solidFill>
                  <a:srgbClr val="2F6F62"/>
                </a:solidFill>
                <a:latin typeface="Calibri"/>
              </a:rPr>
              <a:t>SDG 16</a:t>
            </a:r>
          </a:p>
        </p:txBody>
      </p:sp>
      <p:sp>
        <p:nvSpPr>
          <p:cNvPr id="15" name="TextBox 14"/>
          <p:cNvSpPr txBox="1"/>
          <p:nvPr/>
        </p:nvSpPr>
        <p:spPr>
          <a:xfrm>
            <a:off x="8366760" y="1920240"/>
            <a:ext cx="3154680" cy="914400"/>
          </a:xfrm>
          <a:prstGeom prst="rect">
            <a:avLst/>
          </a:prstGeom>
          <a:noFill/>
        </p:spPr>
        <p:txBody>
          <a:bodyPr wrap="square">
            <a:spAutoFit/>
          </a:bodyPr>
          <a:lstStyle/>
          <a:p>
            <a:pPr algn="l"/>
            <a:r>
              <a:rPr sz="2200" b="1">
                <a:solidFill>
                  <a:srgbClr val="1B2A4A"/>
                </a:solidFill>
                <a:latin typeface="Calibri"/>
              </a:rPr>
              <a:t>Strong Institutions</a:t>
            </a:r>
          </a:p>
        </p:txBody>
      </p:sp>
      <p:sp>
        <p:nvSpPr>
          <p:cNvPr id="16" name="TextBox 15"/>
          <p:cNvSpPr txBox="1"/>
          <p:nvPr/>
        </p:nvSpPr>
        <p:spPr>
          <a:xfrm>
            <a:off x="8366760" y="2971800"/>
            <a:ext cx="3154680" cy="2834640"/>
          </a:xfrm>
          <a:prstGeom prst="rect">
            <a:avLst/>
          </a:prstGeom>
          <a:noFill/>
        </p:spPr>
        <p:txBody>
          <a:bodyPr wrap="square">
            <a:spAutoFit/>
          </a:bodyPr>
          <a:lstStyle/>
          <a:p>
            <a:pPr algn="l"/>
            <a:r>
              <a:rPr sz="1600" b="0">
                <a:solidFill>
                  <a:srgbClr val="1F2422"/>
                </a:solidFill>
                <a:latin typeface="Calibri"/>
              </a:rPr>
              <a:t>Public, citation-backed accountability. Private centres cannot hide contradictions behind marketing.</a:t>
            </a:r>
          </a:p>
        </p:txBody>
      </p:sp>
      <p:sp>
        <p:nvSpPr>
          <p:cNvPr id="17" name="TextBox 16"/>
          <p:cNvSpPr txBox="1"/>
          <p:nvPr/>
        </p:nvSpPr>
        <p:spPr>
          <a:xfrm>
            <a:off x="457200" y="6510528"/>
            <a:ext cx="9144000" cy="256032"/>
          </a:xfrm>
          <a:prstGeom prst="rect">
            <a:avLst/>
          </a:prstGeom>
          <a:noFill/>
        </p:spPr>
        <p:txBody>
          <a:bodyPr wrap="square">
            <a:spAutoFit/>
          </a:bodyPr>
          <a:lstStyle/>
          <a:p>
            <a:pPr algn="l"/>
            <a:r>
              <a:rPr sz="1100" b="0">
                <a:solidFill>
                  <a:srgbClr val="B8C0C8"/>
                </a:solidFill>
                <a:latin typeface="Calibri"/>
              </a:rPr>
              <a:t>SchoolLens  ·  STI College AI Youth Competition 2026</a:t>
            </a:r>
          </a:p>
        </p:txBody>
      </p:sp>
      <p:sp>
        <p:nvSpPr>
          <p:cNvPr id="18" name="TextBox 17"/>
          <p:cNvSpPr txBox="1"/>
          <p:nvPr/>
        </p:nvSpPr>
        <p:spPr>
          <a:xfrm>
            <a:off x="10424160" y="6510528"/>
            <a:ext cx="1280160" cy="256032"/>
          </a:xfrm>
          <a:prstGeom prst="rect">
            <a:avLst/>
          </a:prstGeom>
          <a:noFill/>
        </p:spPr>
        <p:txBody>
          <a:bodyPr wrap="square">
            <a:spAutoFit/>
          </a:bodyPr>
          <a:lstStyle/>
          <a:p>
            <a:pPr algn="r"/>
            <a:r>
              <a:rPr sz="1100" b="0">
                <a:solidFill>
                  <a:srgbClr val="B8C0C8"/>
                </a:solidFill>
                <a:latin typeface="Calibri"/>
              </a:rPr>
              <a:t>11  /  16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3F5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56032"/>
            <a:ext cx="11155680" cy="307777"/>
          </a:xfrm>
          <a:prstGeom prst="rect">
            <a:avLst/>
          </a:prstGeom>
          <a:noFill/>
        </p:spPr>
        <p:txBody>
          <a:bodyPr wrap="square">
            <a:spAutoFit/>
          </a:bodyPr>
          <a:lstStyle/>
          <a:p>
            <a:pPr algn="l"/>
            <a:r>
              <a:rPr sz="1400" b="1" dirty="0">
                <a:solidFill>
                  <a:srgbClr val="2F6F62"/>
                </a:solidFill>
                <a:latin typeface="Calibri"/>
              </a:rPr>
              <a:t>Why </a:t>
            </a:r>
            <a:r>
              <a:rPr sz="1400" b="1" dirty="0" err="1">
                <a:solidFill>
                  <a:srgbClr val="2F6F62"/>
                </a:solidFill>
                <a:latin typeface="Calibri"/>
              </a:rPr>
              <a:t>SchoolLens</a:t>
            </a:r>
            <a:r>
              <a:rPr sz="1400" b="1" dirty="0">
                <a:solidFill>
                  <a:srgbClr val="2F6F62"/>
                </a:solidFill>
                <a:latin typeface="Calibri"/>
              </a:rPr>
              <a:t> is unique</a:t>
            </a:r>
          </a:p>
        </p:txBody>
      </p:sp>
      <p:sp>
        <p:nvSpPr>
          <p:cNvPr id="4" name="TextBox 3"/>
          <p:cNvSpPr txBox="1"/>
          <p:nvPr/>
        </p:nvSpPr>
        <p:spPr>
          <a:xfrm>
            <a:off x="502920" y="475488"/>
            <a:ext cx="11155680" cy="640080"/>
          </a:xfrm>
          <a:prstGeom prst="rect">
            <a:avLst/>
          </a:prstGeom>
          <a:noFill/>
        </p:spPr>
        <p:txBody>
          <a:bodyPr wrap="square">
            <a:spAutoFit/>
          </a:bodyPr>
          <a:lstStyle/>
          <a:p>
            <a:pPr algn="l"/>
            <a:r>
              <a:rPr sz="2800" b="1">
                <a:solidFill>
                  <a:srgbClr val="1B2A4A"/>
                </a:solidFill>
                <a:latin typeface="Calibri"/>
              </a:rPr>
              <a:t>Grounded domain intelligence vs generic AI</a:t>
            </a:r>
          </a:p>
        </p:txBody>
      </p:sp>
      <p:graphicFrame>
        <p:nvGraphicFramePr>
          <p:cNvPr id="5" name="Table 4"/>
          <p:cNvGraphicFramePr>
            <a:graphicFrameLocks noGrp="1"/>
          </p:cNvGraphicFramePr>
          <p:nvPr>
            <p:extLst>
              <p:ext uri="{D42A27DB-BD31-4B8C-83A1-F6EECF244321}">
                <p14:modId xmlns:p14="http://schemas.microsoft.com/office/powerpoint/2010/main" val="3461998097"/>
              </p:ext>
            </p:extLst>
          </p:nvPr>
        </p:nvGraphicFramePr>
        <p:xfrm>
          <a:off x="457200" y="1280160"/>
          <a:ext cx="11245290" cy="484632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3077870">
                  <a:extLst>
                    <a:ext uri="{9D8B030D-6E8A-4147-A177-3AD203B41FA5}">
                      <a16:colId xmlns:a16="http://schemas.microsoft.com/office/drawing/2014/main" val="20001"/>
                    </a:ext>
                  </a:extLst>
                </a:gridCol>
                <a:gridCol w="3077870">
                  <a:extLst>
                    <a:ext uri="{9D8B030D-6E8A-4147-A177-3AD203B41FA5}">
                      <a16:colId xmlns:a16="http://schemas.microsoft.com/office/drawing/2014/main" val="20002"/>
                    </a:ext>
                  </a:extLst>
                </a:gridCol>
                <a:gridCol w="3077870">
                  <a:extLst>
                    <a:ext uri="{9D8B030D-6E8A-4147-A177-3AD203B41FA5}">
                      <a16:colId xmlns:a16="http://schemas.microsoft.com/office/drawing/2014/main" val="20003"/>
                    </a:ext>
                  </a:extLst>
                </a:gridCol>
              </a:tblGrid>
              <a:tr h="692331">
                <a:tc>
                  <a:txBody>
                    <a:bodyPr/>
                    <a:lstStyle/>
                    <a:p>
                      <a:pPr algn="l"/>
                      <a:endParaRPr/>
                    </a:p>
                  </a:txBody>
                  <a:tcPr>
                    <a:solidFill>
                      <a:srgbClr val="1B2A4A"/>
                    </a:solidFill>
                  </a:tcPr>
                </a:tc>
                <a:tc>
                  <a:txBody>
                    <a:bodyPr/>
                    <a:lstStyle/>
                    <a:p>
                      <a:pPr algn="ctr"/>
                      <a:r>
                        <a:rPr sz="1400" b="1">
                          <a:solidFill>
                            <a:srgbClr val="FFFFFF"/>
                          </a:solidFill>
                          <a:latin typeface="Calibri"/>
                        </a:rPr>
                        <a:t>ChatGPT</a:t>
                      </a:r>
                    </a:p>
                  </a:txBody>
                  <a:tcPr>
                    <a:solidFill>
                      <a:srgbClr val="1B2A4A"/>
                    </a:solidFill>
                  </a:tcPr>
                </a:tc>
                <a:tc>
                  <a:txBody>
                    <a:bodyPr/>
                    <a:lstStyle/>
                    <a:p>
                      <a:pPr algn="ctr"/>
                      <a:r>
                        <a:rPr sz="1400" b="1">
                          <a:solidFill>
                            <a:srgbClr val="FFFFFF"/>
                          </a:solidFill>
                          <a:latin typeface="Calibri"/>
                        </a:rPr>
                        <a:t>Listing sites</a:t>
                      </a:r>
                    </a:p>
                  </a:txBody>
                  <a:tcPr>
                    <a:solidFill>
                      <a:srgbClr val="1B2A4A"/>
                    </a:solidFill>
                  </a:tcPr>
                </a:tc>
                <a:tc>
                  <a:txBody>
                    <a:bodyPr/>
                    <a:lstStyle/>
                    <a:p>
                      <a:pPr algn="ctr"/>
                      <a:r>
                        <a:rPr sz="1400" b="1">
                          <a:solidFill>
                            <a:srgbClr val="FFFFFF"/>
                          </a:solidFill>
                          <a:latin typeface="Calibri"/>
                        </a:rPr>
                        <a:t>SchoolLens</a:t>
                      </a:r>
                    </a:p>
                  </a:txBody>
                  <a:tcPr>
                    <a:solidFill>
                      <a:srgbClr val="1B2A4A"/>
                    </a:solidFill>
                  </a:tcPr>
                </a:tc>
                <a:extLst>
                  <a:ext uri="{0D108BD9-81ED-4DB2-BD59-A6C34878D82A}">
                    <a16:rowId xmlns:a16="http://schemas.microsoft.com/office/drawing/2014/main" val="10000"/>
                  </a:ext>
                </a:extLst>
              </a:tr>
              <a:tr h="692331">
                <a:tc>
                  <a:txBody>
                    <a:bodyPr/>
                    <a:lstStyle/>
                    <a:p>
                      <a:pPr algn="l"/>
                      <a:r>
                        <a:rPr sz="1400" b="1" dirty="0">
                          <a:solidFill>
                            <a:srgbClr val="1F2422"/>
                          </a:solidFill>
                          <a:latin typeface="Calibri"/>
                        </a:rPr>
                        <a:t>Fees &amp; facts</a:t>
                      </a:r>
                    </a:p>
                  </a:txBody>
                  <a:tcPr>
                    <a:solidFill>
                      <a:srgbClr val="FFFFFF"/>
                    </a:solidFill>
                  </a:tcPr>
                </a:tc>
                <a:tc>
                  <a:txBody>
                    <a:bodyPr/>
                    <a:lstStyle/>
                    <a:p>
                      <a:pPr algn="ctr"/>
                      <a:r>
                        <a:rPr sz="1400" b="0">
                          <a:solidFill>
                            <a:srgbClr val="1F2422"/>
                          </a:solidFill>
                          <a:latin typeface="Calibri"/>
                        </a:rPr>
                        <a:t>Hallucinates; stale training data</a:t>
                      </a:r>
                    </a:p>
                  </a:txBody>
                  <a:tcPr>
                    <a:solidFill>
                      <a:srgbClr val="FFFFFF"/>
                    </a:solidFill>
                  </a:tcPr>
                </a:tc>
                <a:tc>
                  <a:txBody>
                    <a:bodyPr/>
                    <a:lstStyle/>
                    <a:p>
                      <a:pPr algn="ctr"/>
                      <a:r>
                        <a:rPr sz="1400" b="0">
                          <a:solidFill>
                            <a:srgbClr val="1F2422"/>
                          </a:solidFill>
                          <a:latin typeface="Calibri"/>
                        </a:rPr>
                        <a:t>Ad copy, not citations</a:t>
                      </a:r>
                    </a:p>
                  </a:txBody>
                  <a:tcPr>
                    <a:solidFill>
                      <a:srgbClr val="FFFFFF"/>
                    </a:solidFill>
                  </a:tcPr>
                </a:tc>
                <a:tc>
                  <a:txBody>
                    <a:bodyPr/>
                    <a:lstStyle/>
                    <a:p>
                      <a:pPr algn="ctr"/>
                      <a:r>
                        <a:rPr sz="1400" b="0">
                          <a:solidFill>
                            <a:srgbClr val="2F6F62"/>
                          </a:solidFill>
                          <a:latin typeface="Calibri"/>
                        </a:rPr>
                        <a:t>Grounded claims + dates</a:t>
                      </a:r>
                    </a:p>
                  </a:txBody>
                  <a:tcPr>
                    <a:solidFill>
                      <a:srgbClr val="E7F1EE"/>
                    </a:solidFill>
                  </a:tcPr>
                </a:tc>
                <a:extLst>
                  <a:ext uri="{0D108BD9-81ED-4DB2-BD59-A6C34878D82A}">
                    <a16:rowId xmlns:a16="http://schemas.microsoft.com/office/drawing/2014/main" val="10001"/>
                  </a:ext>
                </a:extLst>
              </a:tr>
              <a:tr h="692331">
                <a:tc>
                  <a:txBody>
                    <a:bodyPr/>
                    <a:lstStyle/>
                    <a:p>
                      <a:pPr algn="l"/>
                      <a:r>
                        <a:rPr sz="1400" b="1" dirty="0">
                          <a:solidFill>
                            <a:srgbClr val="1F2422"/>
                          </a:solidFill>
                          <a:latin typeface="Calibri"/>
                        </a:rPr>
                        <a:t>Myanmar Facebook</a:t>
                      </a:r>
                    </a:p>
                  </a:txBody>
                  <a:tcPr>
                    <a:solidFill>
                      <a:srgbClr val="F3F5F4"/>
                    </a:solidFill>
                  </a:tcPr>
                </a:tc>
                <a:tc>
                  <a:txBody>
                    <a:bodyPr/>
                    <a:lstStyle/>
                    <a:p>
                      <a:pPr algn="ctr"/>
                      <a:r>
                        <a:rPr sz="1400" b="0" dirty="0">
                          <a:solidFill>
                            <a:srgbClr val="1F2422"/>
                          </a:solidFill>
                          <a:latin typeface="Calibri"/>
                        </a:rPr>
                        <a:t>No live access</a:t>
                      </a:r>
                    </a:p>
                  </a:txBody>
                  <a:tcPr>
                    <a:solidFill>
                      <a:srgbClr val="F3F5F4"/>
                    </a:solidFill>
                  </a:tcPr>
                </a:tc>
                <a:tc>
                  <a:txBody>
                    <a:bodyPr/>
                    <a:lstStyle/>
                    <a:p>
                      <a:pPr algn="ctr"/>
                      <a:r>
                        <a:rPr sz="1400" b="0">
                          <a:solidFill>
                            <a:srgbClr val="1F2422"/>
                          </a:solidFill>
                          <a:latin typeface="Calibri"/>
                        </a:rPr>
                        <a:t>Rarely structured</a:t>
                      </a:r>
                    </a:p>
                  </a:txBody>
                  <a:tcPr>
                    <a:solidFill>
                      <a:srgbClr val="F3F5F4"/>
                    </a:solidFill>
                  </a:tcPr>
                </a:tc>
                <a:tc>
                  <a:txBody>
                    <a:bodyPr/>
                    <a:lstStyle/>
                    <a:p>
                      <a:pPr algn="ctr"/>
                      <a:r>
                        <a:rPr sz="1400" b="0">
                          <a:solidFill>
                            <a:srgbClr val="2F6F62"/>
                          </a:solidFill>
                          <a:latin typeface="Calibri"/>
                        </a:rPr>
                        <a:t>Crawled as an update layer</a:t>
                      </a:r>
                    </a:p>
                  </a:txBody>
                  <a:tcPr>
                    <a:solidFill>
                      <a:srgbClr val="E7F1EE"/>
                    </a:solidFill>
                  </a:tcPr>
                </a:tc>
                <a:extLst>
                  <a:ext uri="{0D108BD9-81ED-4DB2-BD59-A6C34878D82A}">
                    <a16:rowId xmlns:a16="http://schemas.microsoft.com/office/drawing/2014/main" val="10002"/>
                  </a:ext>
                </a:extLst>
              </a:tr>
              <a:tr h="692331">
                <a:tc>
                  <a:txBody>
                    <a:bodyPr/>
                    <a:lstStyle/>
                    <a:p>
                      <a:pPr algn="l"/>
                      <a:r>
                        <a:rPr sz="1400" b="1">
                          <a:solidFill>
                            <a:srgbClr val="1F2422"/>
                          </a:solidFill>
                          <a:latin typeface="Calibri"/>
                        </a:rPr>
                        <a:t>Fonts</a:t>
                      </a:r>
                    </a:p>
                  </a:txBody>
                  <a:tcPr>
                    <a:solidFill>
                      <a:srgbClr val="FFFFFF"/>
                    </a:solidFill>
                  </a:tcPr>
                </a:tc>
                <a:tc>
                  <a:txBody>
                    <a:bodyPr/>
                    <a:lstStyle/>
                    <a:p>
                      <a:pPr algn="ctr"/>
                      <a:r>
                        <a:rPr sz="1400" b="0" dirty="0">
                          <a:solidFill>
                            <a:srgbClr val="1F2422"/>
                          </a:solidFill>
                          <a:latin typeface="Calibri"/>
                        </a:rPr>
                        <a:t>Breaks </a:t>
                      </a:r>
                      <a:r>
                        <a:rPr sz="1400" b="0" dirty="0" err="1">
                          <a:solidFill>
                            <a:srgbClr val="1F2422"/>
                          </a:solidFill>
                          <a:latin typeface="Calibri"/>
                        </a:rPr>
                        <a:t>Zawgyi</a:t>
                      </a:r>
                      <a:r>
                        <a:rPr sz="1400" b="0" dirty="0">
                          <a:solidFill>
                            <a:srgbClr val="1F2422"/>
                          </a:solidFill>
                          <a:latin typeface="Calibri"/>
                        </a:rPr>
                        <a:t>/Unicode</a:t>
                      </a:r>
                    </a:p>
                  </a:txBody>
                  <a:tcPr>
                    <a:solidFill>
                      <a:srgbClr val="FFFFFF"/>
                    </a:solidFill>
                  </a:tcPr>
                </a:tc>
                <a:tc>
                  <a:txBody>
                    <a:bodyPr/>
                    <a:lstStyle/>
                    <a:p>
                      <a:pPr algn="ctr"/>
                      <a:r>
                        <a:rPr sz="1400" b="0" dirty="0">
                          <a:solidFill>
                            <a:srgbClr val="1F2422"/>
                          </a:solidFill>
                          <a:latin typeface="Calibri"/>
                        </a:rPr>
                        <a:t>N/A</a:t>
                      </a:r>
                    </a:p>
                  </a:txBody>
                  <a:tcPr>
                    <a:solidFill>
                      <a:srgbClr val="FFFFFF"/>
                    </a:solidFill>
                  </a:tcPr>
                </a:tc>
                <a:tc>
                  <a:txBody>
                    <a:bodyPr/>
                    <a:lstStyle/>
                    <a:p>
                      <a:pPr algn="ctr"/>
                      <a:r>
                        <a:rPr sz="1400" b="0">
                          <a:solidFill>
                            <a:srgbClr val="2F6F62"/>
                          </a:solidFill>
                          <a:latin typeface="Calibri"/>
                        </a:rPr>
                        <a:t>myanmar-tools normalization</a:t>
                      </a:r>
                    </a:p>
                  </a:txBody>
                  <a:tcPr>
                    <a:solidFill>
                      <a:srgbClr val="E7F1EE"/>
                    </a:solidFill>
                  </a:tcPr>
                </a:tc>
                <a:extLst>
                  <a:ext uri="{0D108BD9-81ED-4DB2-BD59-A6C34878D82A}">
                    <a16:rowId xmlns:a16="http://schemas.microsoft.com/office/drawing/2014/main" val="10003"/>
                  </a:ext>
                </a:extLst>
              </a:tr>
              <a:tr h="692331">
                <a:tc>
                  <a:txBody>
                    <a:bodyPr/>
                    <a:lstStyle/>
                    <a:p>
                      <a:pPr algn="l"/>
                      <a:r>
                        <a:rPr sz="1400" b="1">
                          <a:solidFill>
                            <a:srgbClr val="1F2422"/>
                          </a:solidFill>
                          <a:latin typeface="Calibri"/>
                        </a:rPr>
                        <a:t>Conflicts</a:t>
                      </a:r>
                    </a:p>
                  </a:txBody>
                  <a:tcPr>
                    <a:solidFill>
                      <a:srgbClr val="F3F5F4"/>
                    </a:solidFill>
                  </a:tcPr>
                </a:tc>
                <a:tc>
                  <a:txBody>
                    <a:bodyPr/>
                    <a:lstStyle/>
                    <a:p>
                      <a:pPr algn="ctr"/>
                      <a:r>
                        <a:rPr sz="1400" b="0">
                          <a:solidFill>
                            <a:srgbClr val="1F2422"/>
                          </a:solidFill>
                          <a:latin typeface="Calibri"/>
                        </a:rPr>
                        <a:t>Smooths over disagreement</a:t>
                      </a:r>
                    </a:p>
                  </a:txBody>
                  <a:tcPr>
                    <a:solidFill>
                      <a:srgbClr val="F3F5F4"/>
                    </a:solidFill>
                  </a:tcPr>
                </a:tc>
                <a:tc>
                  <a:txBody>
                    <a:bodyPr/>
                    <a:lstStyle/>
                    <a:p>
                      <a:pPr algn="ctr"/>
                      <a:r>
                        <a:rPr sz="1400" b="0" dirty="0">
                          <a:solidFill>
                            <a:srgbClr val="1F2422"/>
                          </a:solidFill>
                          <a:latin typeface="Calibri"/>
                        </a:rPr>
                        <a:t>Hidden by stars</a:t>
                      </a:r>
                    </a:p>
                  </a:txBody>
                  <a:tcPr>
                    <a:solidFill>
                      <a:srgbClr val="F3F5F4"/>
                    </a:solidFill>
                  </a:tcPr>
                </a:tc>
                <a:tc>
                  <a:txBody>
                    <a:bodyPr/>
                    <a:lstStyle/>
                    <a:p>
                      <a:pPr algn="ctr"/>
                      <a:r>
                        <a:rPr sz="1400" b="0">
                          <a:solidFill>
                            <a:srgbClr val="2F6F62"/>
                          </a:solidFill>
                          <a:latin typeface="Calibri"/>
                        </a:rPr>
                        <a:t>Side-by-side inspector</a:t>
                      </a:r>
                    </a:p>
                  </a:txBody>
                  <a:tcPr>
                    <a:solidFill>
                      <a:srgbClr val="E7F1EE"/>
                    </a:solidFill>
                  </a:tcPr>
                </a:tc>
                <a:extLst>
                  <a:ext uri="{0D108BD9-81ED-4DB2-BD59-A6C34878D82A}">
                    <a16:rowId xmlns:a16="http://schemas.microsoft.com/office/drawing/2014/main" val="10004"/>
                  </a:ext>
                </a:extLst>
              </a:tr>
              <a:tr h="692331">
                <a:tc>
                  <a:txBody>
                    <a:bodyPr/>
                    <a:lstStyle/>
                    <a:p>
                      <a:pPr algn="l"/>
                      <a:r>
                        <a:rPr sz="1400" b="1">
                          <a:solidFill>
                            <a:srgbClr val="1F2422"/>
                          </a:solidFill>
                          <a:latin typeface="Calibri"/>
                        </a:rPr>
                        <a:t>Q&amp;A</a:t>
                      </a:r>
                    </a:p>
                  </a:txBody>
                  <a:tcPr>
                    <a:solidFill>
                      <a:srgbClr val="FFFFFF"/>
                    </a:solidFill>
                  </a:tcPr>
                </a:tc>
                <a:tc>
                  <a:txBody>
                    <a:bodyPr/>
                    <a:lstStyle/>
                    <a:p>
                      <a:pPr algn="ctr"/>
                      <a:r>
                        <a:rPr sz="1400" b="0">
                          <a:solidFill>
                            <a:srgbClr val="1F2422"/>
                          </a:solidFill>
                          <a:latin typeface="Calibri"/>
                        </a:rPr>
                        <a:t>No citations</a:t>
                      </a:r>
                    </a:p>
                  </a:txBody>
                  <a:tcPr>
                    <a:solidFill>
                      <a:srgbClr val="FFFFFF"/>
                    </a:solidFill>
                  </a:tcPr>
                </a:tc>
                <a:tc>
                  <a:txBody>
                    <a:bodyPr/>
                    <a:lstStyle/>
                    <a:p>
                      <a:pPr algn="ctr"/>
                      <a:r>
                        <a:rPr sz="1400" b="0">
                          <a:solidFill>
                            <a:srgbClr val="1F2422"/>
                          </a:solidFill>
                          <a:latin typeface="Calibri"/>
                        </a:rPr>
                        <a:t>No Q&amp;A</a:t>
                      </a:r>
                    </a:p>
                  </a:txBody>
                  <a:tcPr>
                    <a:solidFill>
                      <a:srgbClr val="FFFFFF"/>
                    </a:solidFill>
                  </a:tcPr>
                </a:tc>
                <a:tc>
                  <a:txBody>
                    <a:bodyPr/>
                    <a:lstStyle/>
                    <a:p>
                      <a:pPr algn="ctr"/>
                      <a:r>
                        <a:rPr sz="1400" b="0" dirty="0">
                          <a:solidFill>
                            <a:srgbClr val="2F6F62"/>
                          </a:solidFill>
                          <a:latin typeface="Calibri"/>
                        </a:rPr>
                        <a:t>Cited answers or “unknown”</a:t>
                      </a:r>
                    </a:p>
                  </a:txBody>
                  <a:tcPr>
                    <a:solidFill>
                      <a:srgbClr val="E7F1EE"/>
                    </a:solidFill>
                  </a:tcPr>
                </a:tc>
                <a:extLst>
                  <a:ext uri="{0D108BD9-81ED-4DB2-BD59-A6C34878D82A}">
                    <a16:rowId xmlns:a16="http://schemas.microsoft.com/office/drawing/2014/main" val="10005"/>
                  </a:ext>
                </a:extLst>
              </a:tr>
              <a:tr h="692334">
                <a:tc>
                  <a:txBody>
                    <a:bodyPr/>
                    <a:lstStyle/>
                    <a:p>
                      <a:pPr algn="l"/>
                      <a:r>
                        <a:rPr sz="1400" b="1">
                          <a:solidFill>
                            <a:srgbClr val="1F2422"/>
                          </a:solidFill>
                          <a:latin typeface="Calibri"/>
                        </a:rPr>
                        <a:t>Maps</a:t>
                      </a:r>
                    </a:p>
                  </a:txBody>
                  <a:tcPr>
                    <a:solidFill>
                      <a:srgbClr val="F3F5F4"/>
                    </a:solidFill>
                  </a:tcPr>
                </a:tc>
                <a:tc>
                  <a:txBody>
                    <a:bodyPr/>
                    <a:lstStyle/>
                    <a:p>
                      <a:pPr algn="ctr"/>
                      <a:r>
                        <a:rPr sz="1400" b="0">
                          <a:solidFill>
                            <a:srgbClr val="1F2422"/>
                          </a:solidFill>
                          <a:latin typeface="Calibri"/>
                        </a:rPr>
                        <a:t>Mixes branches</a:t>
                      </a:r>
                    </a:p>
                  </a:txBody>
                  <a:tcPr>
                    <a:solidFill>
                      <a:srgbClr val="F3F5F4"/>
                    </a:solidFill>
                  </a:tcPr>
                </a:tc>
                <a:tc>
                  <a:txBody>
                    <a:bodyPr/>
                    <a:lstStyle/>
                    <a:p>
                      <a:pPr algn="ctr"/>
                      <a:r>
                        <a:rPr sz="1400" b="0">
                          <a:solidFill>
                            <a:srgbClr val="1F2422"/>
                          </a:solidFill>
                          <a:latin typeface="Calibri"/>
                        </a:rPr>
                        <a:t>Static list</a:t>
                      </a:r>
                    </a:p>
                  </a:txBody>
                  <a:tcPr>
                    <a:solidFill>
                      <a:srgbClr val="F3F5F4"/>
                    </a:solidFill>
                  </a:tcPr>
                </a:tc>
                <a:tc>
                  <a:txBody>
                    <a:bodyPr/>
                    <a:lstStyle/>
                    <a:p>
                      <a:pPr algn="ctr"/>
                      <a:r>
                        <a:rPr sz="1400" b="0" dirty="0">
                          <a:solidFill>
                            <a:srgbClr val="2F6F62"/>
                          </a:solidFill>
                          <a:latin typeface="Calibri"/>
                        </a:rPr>
                        <a:t>Multi-branch network map</a:t>
                      </a:r>
                    </a:p>
                  </a:txBody>
                  <a:tcPr>
                    <a:solidFill>
                      <a:srgbClr val="E7F1EE"/>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457200" y="6510528"/>
            <a:ext cx="9144000" cy="256032"/>
          </a:xfrm>
          <a:prstGeom prst="rect">
            <a:avLst/>
          </a:prstGeom>
          <a:noFill/>
        </p:spPr>
        <p:txBody>
          <a:bodyPr wrap="square">
            <a:spAutoFit/>
          </a:bodyPr>
          <a:lstStyle/>
          <a:p>
            <a:pPr algn="l"/>
            <a:r>
              <a:rPr sz="1100" b="0">
                <a:solidFill>
                  <a:srgbClr val="B8C0C8"/>
                </a:solidFill>
                <a:latin typeface="Calibri"/>
              </a:rPr>
              <a:t>SchoolLens  ·  STI College AI Youth Competition 2026</a:t>
            </a:r>
          </a:p>
        </p:txBody>
      </p:sp>
      <p:sp>
        <p:nvSpPr>
          <p:cNvPr id="7" name="TextBox 6"/>
          <p:cNvSpPr txBox="1"/>
          <p:nvPr/>
        </p:nvSpPr>
        <p:spPr>
          <a:xfrm>
            <a:off x="10424160" y="6510528"/>
            <a:ext cx="1280160" cy="256032"/>
          </a:xfrm>
          <a:prstGeom prst="rect">
            <a:avLst/>
          </a:prstGeom>
          <a:noFill/>
        </p:spPr>
        <p:txBody>
          <a:bodyPr wrap="square">
            <a:spAutoFit/>
          </a:bodyPr>
          <a:lstStyle/>
          <a:p>
            <a:pPr algn="r"/>
            <a:r>
              <a:rPr sz="1100" b="0">
                <a:solidFill>
                  <a:srgbClr val="B8C0C8"/>
                </a:solidFill>
                <a:latin typeface="Calibri"/>
              </a:rPr>
              <a:t>12  /  16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463040"/>
            <a:ext cx="10972800" cy="365760"/>
          </a:xfrm>
          <a:prstGeom prst="rect">
            <a:avLst/>
          </a:prstGeom>
          <a:noFill/>
        </p:spPr>
        <p:txBody>
          <a:bodyPr wrap="square">
            <a:spAutoFit/>
          </a:bodyPr>
          <a:lstStyle/>
          <a:p>
            <a:pPr algn="l"/>
            <a:r>
              <a:rPr sz="1400" b="1">
                <a:solidFill>
                  <a:srgbClr val="1A7A9C"/>
                </a:solidFill>
                <a:latin typeface="Calibri"/>
              </a:rPr>
              <a:t>CLEAR EVIDENCE.  HONEST CONFIDENCE.  BETTER EDUCATION.</a:t>
            </a:r>
          </a:p>
        </p:txBody>
      </p:sp>
      <p:sp>
        <p:nvSpPr>
          <p:cNvPr id="4" name="TextBox 3"/>
          <p:cNvSpPr txBox="1"/>
          <p:nvPr/>
        </p:nvSpPr>
        <p:spPr>
          <a:xfrm>
            <a:off x="640080" y="1965960"/>
            <a:ext cx="10972800" cy="1188720"/>
          </a:xfrm>
          <a:prstGeom prst="rect">
            <a:avLst/>
          </a:prstGeom>
          <a:noFill/>
        </p:spPr>
        <p:txBody>
          <a:bodyPr wrap="square">
            <a:spAutoFit/>
          </a:bodyPr>
          <a:lstStyle/>
          <a:p>
            <a:pPr algn="l"/>
            <a:r>
              <a:rPr sz="3400" b="1">
                <a:solidFill>
                  <a:srgbClr val="FFFFFF"/>
                </a:solidFill>
                <a:latin typeface="Calibri"/>
              </a:rPr>
              <a:t>Empowering every Myanmar family</a:t>
            </a:r>
          </a:p>
          <a:p>
            <a:pPr algn="l"/>
            <a:r>
              <a:rPr sz="3400" b="1">
                <a:solidFill>
                  <a:srgbClr val="FFFFFF"/>
                </a:solidFill>
                <a:latin typeface="Calibri"/>
              </a:rPr>
              <a:t>to choose with confidence</a:t>
            </a:r>
          </a:p>
        </p:txBody>
      </p:sp>
      <p:sp>
        <p:nvSpPr>
          <p:cNvPr id="5" name="TextBox 4"/>
          <p:cNvSpPr txBox="1"/>
          <p:nvPr/>
        </p:nvSpPr>
        <p:spPr>
          <a:xfrm>
            <a:off x="640080" y="3383280"/>
            <a:ext cx="10789920" cy="1188720"/>
          </a:xfrm>
          <a:prstGeom prst="rect">
            <a:avLst/>
          </a:prstGeom>
          <a:noFill/>
        </p:spPr>
        <p:txBody>
          <a:bodyPr wrap="square">
            <a:spAutoFit/>
          </a:bodyPr>
          <a:lstStyle/>
          <a:p>
            <a:pPr algn="l"/>
            <a:r>
              <a:rPr sz="1800" b="0">
                <a:solidFill>
                  <a:srgbClr val="D5DCE4"/>
                </a:solidFill>
                <a:latin typeface="Calibri"/>
              </a:rPr>
              <a:t>Education is the most important investment a family can make. Accurate facts let students focus on learning — not on rumours.</a:t>
            </a:r>
          </a:p>
        </p:txBody>
      </p:sp>
      <p:sp>
        <p:nvSpPr>
          <p:cNvPr id="6" name="TextBox 5"/>
          <p:cNvSpPr txBox="1"/>
          <p:nvPr/>
        </p:nvSpPr>
        <p:spPr>
          <a:xfrm>
            <a:off x="640080" y="4846320"/>
            <a:ext cx="10972800" cy="646331"/>
          </a:xfrm>
          <a:prstGeom prst="rect">
            <a:avLst/>
          </a:prstGeom>
          <a:noFill/>
        </p:spPr>
        <p:txBody>
          <a:bodyPr wrap="square">
            <a:spAutoFit/>
          </a:bodyPr>
          <a:lstStyle/>
          <a:p>
            <a:pPr algn="l"/>
            <a:r>
              <a:rPr lang="en-US" sz="1800" b="0" dirty="0">
                <a:solidFill>
                  <a:srgbClr val="FFFFFF"/>
                </a:solidFill>
                <a:latin typeface="Calibri"/>
              </a:rPr>
              <a:t>Team Sabina</a:t>
            </a:r>
            <a:endParaRPr sz="1800" b="0" dirty="0">
              <a:solidFill>
                <a:srgbClr val="FFFFFF"/>
              </a:solidFill>
              <a:latin typeface="Calibri"/>
            </a:endParaRPr>
          </a:p>
          <a:p>
            <a:pPr algn="l"/>
            <a:r>
              <a:rPr sz="1800" b="0" dirty="0">
                <a:solidFill>
                  <a:srgbClr val="FFFFFF"/>
                </a:solidFill>
                <a:latin typeface="Calibri"/>
              </a:rPr>
              <a:t>Thank you. I look forward to your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2310</Words>
  <Application>Microsoft Office PowerPoint</Application>
  <PresentationFormat>Widescreen</PresentationFormat>
  <Paragraphs>229</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Soe Min Tun</dc:creator>
  <cp:keywords/>
  <dc:description>generated using python-pptx</dc:description>
  <cp:lastModifiedBy>Soe Min Tun - VSK YGN</cp:lastModifiedBy>
  <cp:revision>2</cp:revision>
  <dcterms:created xsi:type="dcterms:W3CDTF">2013-01-27T09:14:16Z</dcterms:created>
  <dcterms:modified xsi:type="dcterms:W3CDTF">2026-09-15T15:32:16Z</dcterms:modified>
  <cp:category/>
</cp:coreProperties>
</file>